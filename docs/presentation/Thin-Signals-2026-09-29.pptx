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  <p:sldId id="376" r:id="rId13"/>
    <p:sldId id="377" r:id="rId14"/>
    <p:sldId id="378" r:id="rId15"/>
    <p:sldId id="379" r:id="rId16"/>
    <p:sldId id="380" r:id="rId17"/>
    <p:sldId id="381" r:id="rId18"/>
    <p:sldId id="382" r:id="rId19"/>
    <p:sldId id="383" r:id="rId20"/>
    <p:sldId id="384" r:id="rId21"/>
    <p:sldId id="385" r:id="rId22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Концепт / исследовательские материалы: 29.09.2026.</a:t>
            </a:r>
          </a:p>
          <a:p>
            <a:r>
              <a:t>Дата комплекта не подтверждает конкурсную сдачу или дату релиза.</a:t>
            </a:r>
          </a:p>
          <a:p>
            <a:r>
              <a:t>Источники:</a:t>
            </a:r>
          </a:p>
          <a:p>
            <a:r>
              <a:t>Обязательные пять карточек исходного слайда 9 сохранены. Они не подтверждают фактическое число участников. Все ФИО, роли, контакты и биографии ждут данных команды.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Концепт / исследовательские материалы: 29.09.2026.</a:t>
            </a:r>
          </a:p>
          <a:p>
            <a:r>
              <a:t>Дата комплекта не подтверждает конкурсную сдачу или дату релиза.</a:t>
            </a:r>
          </a:p>
          <a:p>
            <a:r>
              <a:t>Источники:</a:t>
            </a:r>
          </a:p>
          <a:p>
            <a:r>
              <a:t>AGENTS.md</a:t>
            </a:r>
          </a:p>
          <a:p>
            <a:r>
              <a:t>docs/METHODOLOGY.md</a:t>
            </a:r>
          </a:p>
          <a:p>
            <a:r>
              <a:t>docs/ui/EVIDENCE_FIRST_V3.md</a:t>
            </a:r>
          </a:p>
          <a:p>
            <a:r>
              <a:t>Продуктовая мотивация описывает задачу; личная мотивация или история участников не утверждается.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Концепт / исследовательские материалы: 29.09.2026.</a:t>
            </a:r>
          </a:p>
          <a:p>
            <a:r>
              <a:t>Дата комплекта 29.09.2026 установлена по разрешению организаторов, сообщённому оператором.</a:t>
            </a:r>
          </a:p>
          <a:p>
            <a:r>
              <a:t>Дата комплекта не подтверждает конкурсную сдачу или дату релиза.</a:t>
            </a:r>
          </a:p>
          <a:p>
            <a:r>
              <a:t>Источники:</a:t>
            </a:r>
          </a:p>
          <a:p>
            <a:r>
              <a:t>CONCEPT.md</a:t>
            </a:r>
          </a:p>
          <a:p>
            <a:r>
              <a:t>docs/METHODOLOGY.md</a:t>
            </a:r>
          </a:p>
          <a:p>
            <a:r>
              <a:t>Исследовательская гипотеза ценности: экономия времени пока не измерена.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Концепт / исследовательские материалы: 29.09.2026.</a:t>
            </a:r>
          </a:p>
          <a:p>
            <a:r>
              <a:t>Дата комплекта не подтверждает конкурсную сдачу или дату релиза.</a:t>
            </a:r>
          </a:p>
          <a:p>
            <a:r>
              <a:t>Источники:</a:t>
            </a:r>
          </a:p>
          <a:p>
            <a:r>
              <a:t>Официальный шаблон ЛЦТ 2026, исходный слайд 7. Название команды взято из принятой предыдущей презентации.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Концепт / исследовательские материалы: 29.09.2026.</a:t>
            </a:r>
          </a:p>
          <a:p>
            <a:r>
              <a:t>Дата комплекта не подтверждает конкурсную сдачу или дату релиза.</a:t>
            </a:r>
          </a:p>
          <a:p>
            <a:r>
              <a:t>Источники:</a:t>
            </a:r>
          </a:p>
          <a:p>
            <a:r>
              <a:t>docs/ui/EVIDENCE_FIRST_V3.md (текущая редакция v4)</a:t>
            </a:r>
          </a:p>
          <a:p>
            <a:r>
              <a:t>ts/potential.py</a:t>
            </a:r>
          </a:p>
          <a:p>
            <a:r>
              <a:t>ts/old_tech.py</a:t>
            </a:r>
          </a:p>
          <a:p>
            <a:r>
              <a:t>Персональные данные отсутствуют: docs/presentation/2026-09-29-team-fields.txt. Поля намеренно не выдуманы.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Концепт / исследовательские материалы: 29.09.2026.</a:t>
            </a:r>
          </a:p>
          <a:p>
            <a:r>
              <a:t>Дата комплекта не подтверждает конкурсную сдачу или дату релиза.</a:t>
            </a:r>
          </a:p>
          <a:p>
            <a:r>
              <a:t>Источники:</a:t>
            </a:r>
          </a:p>
          <a:p>
            <a:r>
              <a:t>docs/METHODOLOGY.md</a:t>
            </a:r>
          </a:p>
          <a:p>
            <a:r>
              <a:t>ts/potential.py</a:t>
            </a:r>
          </a:p>
          <a:p>
            <a:r>
              <a:t>ts/old_tech.py</a:t>
            </a:r>
          </a:p>
          <a:p>
            <a:r>
              <a:t>Развитие и внедрение — план, а не выполненное обязательство заказчика.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Концепт / исследовательские материалы: 29.09.2026.</a:t>
            </a:r>
          </a:p>
          <a:p>
            <a:r>
              <a:t>Дата комплекта 29.09.2026 установлена по разрешению организаторов, сообщённому оператором.</a:t>
            </a:r>
          </a:p>
          <a:p>
            <a:r>
              <a:t>Дата комплекта не подтверждает конкурсную сдачу или дату релиза.</a:t>
            </a:r>
          </a:p>
          <a:p>
            <a:r>
              <a:t>Источники:</a:t>
            </a:r>
          </a:p>
          <a:p>
            <a:r>
              <a:t>docs/ui/EVIDENCE_FIRST_V3.md</a:t>
            </a:r>
          </a:p>
          <a:p>
            <a:r>
              <a:t>ts/desk.py</a:t>
            </a:r>
          </a:p>
          <a:p>
            <a:r>
              <a:t>ts/potential.py</a:t>
            </a:r>
          </a:p>
          <a:p>
            <a:r>
              <a:t>ts/old_tech.py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Концепт / исследовательские материалы: 29.09.2026.</a:t>
            </a:r>
          </a:p>
          <a:p>
            <a:r>
              <a:t>Дата комплекта 29.09.2026 установлена по разрешению организаторов, сообщённому оператором.</a:t>
            </a:r>
          </a:p>
          <a:p>
            <a:r>
              <a:t>Дата комплекта не подтверждает конкурсную сдачу или дату релиза.</a:t>
            </a:r>
          </a:p>
          <a:p>
            <a:r>
              <a:t>Источники:</a:t>
            </a:r>
          </a:p>
          <a:p>
            <a:r>
              <a:t>ts/scoring/rules-0.1.yaml: thresholds (ledger/live)</a:t>
            </a:r>
          </a:p>
          <a:p>
            <a:r>
              <a:t>ts/desk.py: вердикты</a:t>
            </a:r>
          </a:p>
          <a:p>
            <a:r>
              <a:t>Пороги description-mode отличаются; на этом слайде показан основной live/ledger-контракт.</a:t>
            </a:r>
          </a:p>
          <a:p>
            <a:r>
              <a:t>Поля даты пока задают контекст запроса, а не гарантированный типизированный API-фильтр.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Концепт / исследовательские материалы: 29.09.2026.</a:t>
            </a:r>
          </a:p>
          <a:p>
            <a:r>
              <a:t>Дата комплекта 29.09.2026 установлена по разрешению организаторов, сообщённому оператором.</a:t>
            </a:r>
          </a:p>
          <a:p>
            <a:r>
              <a:t>Дата комплекта не подтверждает конкурсную сдачу или дату релиза.</a:t>
            </a:r>
          </a:p>
          <a:p>
            <a:r>
              <a:t>Источники:</a:t>
            </a:r>
          </a:p>
          <a:p>
            <a:r>
              <a:t>ts/potential.py</a:t>
            </a:r>
          </a:p>
          <a:p>
            <a:r>
              <a:t>ts/desk.py: potential_board</a:t>
            </a:r>
          </a:p>
          <a:p>
            <a:r>
              <a:t>potential-v2: near-watchlist 0.25–0.35; high-potential из watchlist 0.35–0.60. Только текущие scored-карточки, без запрещающих контрпризнаков.</a:t>
            </a:r>
          </a:p>
          <a:p>
            <a:r>
              <a:t>Неизвестные измерения остаются None; ноль не подставляется вместо отсутствия данных.</a:t>
            </a:r>
          </a:p>
          <a:p>
            <a:r>
              <a:t>Формула исследовательская и детерминированная, не валидированная рыночная прогностическая модель.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Концепт / исследовательские материалы: 29.09.2026.</a:t>
            </a:r>
          </a:p>
          <a:p>
            <a:r>
              <a:t>Дата комплекта 29.09.2026 установлена по разрешению организаторов, сообщённому оператором.</a:t>
            </a:r>
          </a:p>
          <a:p>
            <a:r>
              <a:t>Дата комплекта не подтверждает конкурсную сдачу или дату релиза.</a:t>
            </a:r>
          </a:p>
          <a:p>
            <a:r>
              <a:t>Источники:</a:t>
            </a:r>
          </a:p>
          <a:p>
            <a:r>
              <a:t>data/old_tech/snapshot_2026-09-29.json, T01, S04/S05/S06/S82</a:t>
            </a:r>
          </a:p>
          <a:p>
            <a:r>
              <a:t>Архивная карточка: https://pmc.ncbi.nlm.nih.gov/articles/PMC12686500/</a:t>
            </a:r>
          </a:p>
          <a:p>
            <a:r>
              <a:t>Патентный след: https://patents.google.com/patent/US9243624B2/en</a:t>
            </a:r>
          </a:p>
          <a:p>
            <a:r>
              <a:t>Техническое свидетельство, рыночная гипотеза и права проверяются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Концепт / исследовательские материалы: 29.09.2026.</a:t>
            </a:r>
          </a:p>
          <a:p>
            <a:r>
              <a:t>Дата комплекта 29.09.2026 установлена по разрешению организаторов, сообщённому оператором.</a:t>
            </a:r>
          </a:p>
          <a:p>
            <a:r>
              <a:t>Дата комплекта не подтверждает конкурсную сдачу или дату релиза.</a:t>
            </a:r>
          </a:p>
          <a:p>
            <a:r>
              <a:t>Источники:</a:t>
            </a:r>
          </a:p>
          <a:p>
            <a:r>
              <a:t>docs/METHODOLOGY.md</a:t>
            </a:r>
          </a:p>
          <a:p>
            <a:r>
              <a:t>STATUS.md: версия проверяется по frozen candidate</a:t>
            </a:r>
          </a:p>
          <a:p>
            <a:r>
              <a:t>docs/ui/EVIDENCE_FIRST_V3.md</a:t>
            </a:r>
          </a:p>
          <a:p>
            <a:r>
              <a:t>Проверка валидной ссылки необходима, но сама по себе не является доказательством независимой репликации.</a:t>
            </a:r>
          </a:p>
          <a:p>
            <a:r>
              <a:t>Полный долговечный evidence ledger остаётся открытой задачей.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Концепт / исследовательские материалы: 29.09.2026.</a:t>
            </a:r>
          </a:p>
          <a:p>
            <a:r>
              <a:t>Дата комплекта 29.09.2026 установлена по разрешению организаторов, сообщённому оператором.</a:t>
            </a:r>
          </a:p>
          <a:p>
            <a:r>
              <a:t>Дата комплекта не подтверждает конкурсную сдачу или дату релиза.</a:t>
            </a:r>
          </a:p>
          <a:p>
            <a:r>
              <a:t>Источники:</a:t>
            </a:r>
          </a:p>
          <a:p>
            <a:r>
              <a:t>ARCHITECTURE.md</a:t>
            </a:r>
          </a:p>
          <a:p>
            <a:r>
              <a:t>STATUS.md: open audit findings</a:t>
            </a:r>
          </a:p>
          <a:p>
            <a:r>
              <a:t>docs/PROCESSING_CONTRACT.md</a:t>
            </a:r>
          </a:p>
          <a:p>
            <a:r>
              <a:t>Долговечный per-step/evidence ledger реализован не полностью. Полный отказ коннекторов может завершиться succeeded — открытый дефект контракта.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Концепт / исследовательские материалы: 29.09.2026.</a:t>
            </a:r>
          </a:p>
          <a:p>
            <a:r>
              <a:t>Дата комплекта 29.09.2026 установлена по разрешению организаторов, сообщённому оператором.</a:t>
            </a:r>
          </a:p>
          <a:p>
            <a:r>
              <a:t>Дата комплекта не подтверждает конкурсную сдачу или дату релиза.</a:t>
            </a:r>
          </a:p>
          <a:p>
            <a:r>
              <a:t>Источники:</a:t>
            </a:r>
          </a:p>
          <a:p>
            <a:r>
              <a:t>AGENTS.md: данные и запрет заявлений без eval</a:t>
            </a:r>
          </a:p>
          <a:p>
            <a:r>
              <a:t>STATUS.md</a:t>
            </a:r>
          </a:p>
          <a:p>
            <a:r>
              <a:t>docs/EVAL.md (исторический description-mode)</a:t>
            </a:r>
          </a:p>
          <a:p>
            <a:r>
              <a:t>Историческое F1 0.9541 не вынесено в результат: ранний эксперимент на известном наборе не доказывает качество текущего live-поиска.</a:t>
            </a:r>
          </a:p>
          <a:p>
            <a:r>
              <a:t>Факт сдачи организаторам не подтверждён.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Концепт / исследовательские материалы: 29.09.2026.</a:t>
            </a:r>
          </a:p>
          <a:p>
            <a:r>
              <a:t>Дата комплекта 29.09.2026 установлена по разрешению организаторов, сообщённому оператором.</a:t>
            </a:r>
          </a:p>
          <a:p>
            <a:r>
              <a:t>Дата комплекта не подтверждает конкурсную сдачу или дату релиза.</a:t>
            </a:r>
          </a:p>
          <a:p>
            <a:r>
              <a:t>Источники:</a:t>
            </a:r>
          </a:p>
          <a:p>
            <a:r>
              <a:t>assets/current-three-panels.png; происхождение в release-evidence.json</a:t>
            </a:r>
          </a:p>
          <a:p>
            <a:r>
              <a:t>Текущий код приложения, проверенный на изолированном стенде с контролируемой сессией.</a:t>
            </a:r>
          </a:p>
          <a:p>
            <a:r>
              <a:t>Скриншот не является доказательством live-точности или авторизованной проверки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Концепт / исследовательские материалы: 29.09.2026.</a:t>
            </a:r>
          </a:p>
          <a:p>
            <a:r>
              <a:t>Дата комплекта 29.09.2026 установлена по разрешению организаторов, сообщённому оператором.</a:t>
            </a:r>
          </a:p>
          <a:p>
            <a:r>
              <a:t>Дата комплекта не подтверждает конкурсную сдачу или дату релиза.</a:t>
            </a:r>
          </a:p>
          <a:p>
            <a:r>
              <a:t>Источники:</a:t>
            </a:r>
          </a:p>
          <a:p>
            <a:r>
              <a:t>План развития, не обязательство заказчика и не подтверждённая поставка.</a:t>
            </a:r>
          </a:p>
          <a:p>
            <a:r>
              <a:t>Данные команды на обязательных слайдах 2–4 требуют заполнения до внешней подачи.</a:t>
            </a:r>
          </a:p>
          <a:p>
            <a:r>
              <a:t>Дата комплекта: 29.09.2026.</a:t>
            </a:r>
          </a:p>
          <a:p>
            <a:r>
              <a:t>Свежий поиск: production ≈8:13, предыдущий сопоставимый staging ≈8:51. Это единичные реконструированные замеры, не SLA и не сравнение с прежним production.</a:t>
            </a:r>
          </a:p>
          <a:p>
            <a:r>
              <a:t>Production: 48 источников, 2 watchlist и 2 potential; staging: 48 источников, 4 watchlist и 3 potential. Повтор по кэшу занимает доли секунды, не является новым поиском.</a:t>
            </a:r>
          </a:p>
          <a:p>
            <a:r>
              <a:t>Авторизованный production smoke не заявляется; автоматизированный UI smoke использует изолированный стенд.</a:t>
            </a:r>
          </a:p>
          <a:p>
            <a:r>
              <a:t>Монотонность rules-0.1, статусы полного отказа источников и полнота evidence ledger остаются открытыми задачами.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14.09.2026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14.09.2026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14.09.2026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14.09.2026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826.png"/><Relationship Id="rId4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 wrap="square" anchor="ctr" lIns="283464" rIns="283464" tIns="283464" bIns="283464">
            <a:noAutofit/>
          </a:bodyPr>
          <a:lstStyle/>
          <a:p>
            <a:pPr marL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rgbClr val="FFFFFF"/>
                </a:solidFill>
                <a:latin typeface="Montserrat"/>
              </a:rPr>
              <a:t>ТОНКИЕ</a:t>
            </a:r>
            <a:endParaRPr lang="ru-RU" sz="4800" dirty="0"/>
          </a:p>
          <a:p>
            <a:pPr algn="l" marL="0" indent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rgbClr val="FFFFFF"/>
                </a:solidFill>
                <a:latin typeface="Montserrat"/>
              </a:rPr>
              <a:t>СИГНАЛЫ</a:t>
            </a:r>
          </a:p>
        </p:txBody>
      </p:sp>
      <p:pic>
        <p:nvPicPr>
          <p:cNvPr id="4" name="Рисунок 3" descr="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>
            <a:fillRect/>
          </a:stretch>
        </p:blipFill>
        <p:spPr>
          <a:xfrm>
            <a:off x="720649" y="558655"/>
            <a:ext cx="4362371" cy="624880"/>
          </a:xfr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 wrap="square" lIns="283464" rIns="283464" tIns="283464" bIns="283464">
            <a:noAutofit/>
          </a:bodyPr>
          <a:lstStyle/>
          <a:p>
            <a:pPr indent="0" algn="l" marL="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0">
                <a:solidFill>
                  <a:srgbClr val="FFFFFF"/>
                </a:solidFill>
                <a:latin typeface="Montserrat"/>
              </a:rPr>
              <a:t>AGI Space · кейс Газпромбанк.Тех</a:t>
            </a:r>
            <a:endParaRPr lang="ru-RU" dirty="0"/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0">
                <a:solidFill>
                  <a:srgbClr val="FFFFFF"/>
                </a:solidFill>
                <a:latin typeface="Montserrat"/>
              </a:rPr>
              <a:t>Технологическая разведка по проверяемым источникам · концепт 29.09.2026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pic>
        <p:nvPicPr>
          <p:cNvPr id="2" name="Рисунок 1" descr="agi-space-logo-transparent.pn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>
          <a:xfrm>
            <a:off x="1773916" y="691881"/>
            <a:ext cx="2908529" cy="2258555"/>
          </a:xfrm>
        </p:spPr>
      </p:pic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  <a:latin typeface="Montserrat"/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wrap="square" anchor="t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sz="1400" b="0">
                <a:solidFill>
                  <a:srgbClr val="310F53"/>
                </a:solidFill>
                <a:latin typeface="Montserrat"/>
              </a:rPr>
              <a:t>Источник, признак и причина решения видны отдельно. Исследовательский рейтинг не выдаётся за вероятность успеха.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wrap="square" anchor="t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 algn="l"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300" b="0">
                <a:solidFill>
                  <a:srgbClr val="310F53"/>
                </a:solidFill>
                <a:latin typeface="Montserrat"/>
              </a:rPr>
              <a:t>Команда: AGI Space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300" b="0">
                <a:solidFill>
                  <a:srgbClr val="310F53"/>
                </a:solidFill>
                <a:latin typeface="Montserrat"/>
              </a:rPr>
              <a:t>Капитан / специальность: [УТОЧНИТЬ]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300" b="0">
                <a:solidFill>
                  <a:srgbClr val="310F53"/>
                </a:solidFill>
                <a:latin typeface="Montserrat"/>
              </a:rPr>
              <a:t>Число участников: [УТОЧНИТЬ]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300" b="0">
                <a:solidFill>
                  <a:srgbClr val="310F53"/>
                </a:solidFill>
                <a:latin typeface="Montserrat"/>
              </a:rPr>
              <a:t>Как собрались: [УТОЧНИТЬ]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300" b="0">
                <a:solidFill>
                  <a:srgbClr val="310F53"/>
                </a:solidFill>
                <a:latin typeface="Montserrat"/>
              </a:rPr>
              <a:t>Работа / учёба: [УТОЧНИТЬ]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300" b="0">
                <a:solidFill>
                  <a:srgbClr val="310F53"/>
                </a:solidFill>
                <a:latin typeface="Montserrat"/>
              </a:rPr>
              <a:t>Город / регион: [УТОЧНИТЬ]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  <a:latin typeface="Montserrat"/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310F53"/>
                </a:solidFill>
                <a:latin typeface="Montserrat"/>
              </a:rPr>
              <a:t>КОМАНДА</a:t>
            </a:r>
            <a:endParaRPr lang="ru-RU" sz="2400" dirty="0">
              <a:solidFill>
                <a:schemeClr val="accent5"/>
              </a:solidFill>
              <a:latin typeface="+mn-lt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310F53"/>
                </a:solidFill>
                <a:latin typeface="Montserrat"/>
              </a:rPr>
              <a:t>И РЕШЕНИЕ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  <a:latin typeface="Montserrat"/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wrap="square" anchor="t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sz="1400" b="0">
                <a:solidFill>
                  <a:srgbClr val="310F53"/>
                </a:solidFill>
                <a:latin typeface="Montserrat"/>
              </a:rPr>
              <a:t>Три инструмента: живой поиск тонких сигналов, очередь «Потенциал» для повторной проверки и архив «Новая жизнь» старых технологий.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wrap="square" anchor="ctr" lIns="0" rIns="0" tIns="0" bIns="0">
            <a:noAutofit/>
          </a:bodyPr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00" b="0">
                <a:solidFill>
                  <a:srgbClr val="1C1D22"/>
                </a:solidFill>
                <a:latin typeface="Montserrat"/>
              </a:rPr>
              <a:t>2</a:t>
            </a:r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wrap="square" anchor="t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None/>
            </a:pPr>
            <a:r>
              <a:rPr sz="1050" b="0">
                <a:solidFill>
                  <a:srgbClr val="1C1D22"/>
                </a:solidFill>
                <a:latin typeface="Montserrat"/>
              </a:rPr>
              <a:t>Роль: [уточнить]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>
                <a:solidFill>
                  <a:srgbClr val="1C1D22"/>
                </a:solidFill>
                <a:latin typeface="Montserrat"/>
              </a:rPr>
              <a:t>Ник: [уточнить]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>
                <a:solidFill>
                  <a:srgbClr val="1C1D22"/>
                </a:solidFill>
                <a:latin typeface="Montserrat"/>
              </a:rPr>
              <a:t>Телефон: [уточнить]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>
                <a:solidFill>
                  <a:srgbClr val="1C1D22"/>
                </a:solidFill>
                <a:latin typeface="Montserrat"/>
              </a:rPr>
              <a:t>Работа / учёба: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>
                <a:solidFill>
                  <a:srgbClr val="1C1D22"/>
                </a:solidFill>
                <a:latin typeface="Montserrat"/>
              </a:rPr>
              <a:t>[уточнить]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wrap="square" anchor="ctr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310F53"/>
                </a:solidFill>
                <a:latin typeface="Montserrat"/>
              </a:rPr>
              <a:t>[ФИО]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310F53"/>
                </a:solidFill>
                <a:latin typeface="Montserrat"/>
              </a:rPr>
              <a:t>УТОЧНИТЬ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wrap="square" anchor="t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None/>
            </a:pPr>
            <a:r>
              <a:rPr sz="1050" b="0">
                <a:solidFill>
                  <a:srgbClr val="1C1D22"/>
                </a:solidFill>
                <a:latin typeface="Montserrat"/>
              </a:rPr>
              <a:t>Роль: [уточнить]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>
                <a:solidFill>
                  <a:srgbClr val="1C1D22"/>
                </a:solidFill>
                <a:latin typeface="Montserrat"/>
              </a:rPr>
              <a:t>Ник: [уточнить]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>
                <a:solidFill>
                  <a:srgbClr val="1C1D22"/>
                </a:solidFill>
                <a:latin typeface="Montserrat"/>
              </a:rPr>
              <a:t>Телефон: [уточнить]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>
                <a:solidFill>
                  <a:srgbClr val="1C1D22"/>
                </a:solidFill>
                <a:latin typeface="Montserrat"/>
              </a:rPr>
              <a:t>Работа / учёба: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>
                <a:solidFill>
                  <a:srgbClr val="1C1D22"/>
                </a:solidFill>
                <a:latin typeface="Montserrat"/>
              </a:rPr>
              <a:t>[уточнить]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wrap="square" anchor="ctr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310F53"/>
                </a:solidFill>
                <a:latin typeface="Montserrat"/>
              </a:rPr>
              <a:t>[ФИО]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310F53"/>
                </a:solidFill>
                <a:latin typeface="Montserrat"/>
              </a:rPr>
              <a:t>УТОЧНИТЬ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wrap="square" anchor="t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None/>
            </a:pPr>
            <a:r>
              <a:rPr sz="1050" b="0">
                <a:solidFill>
                  <a:srgbClr val="1C1D22"/>
                </a:solidFill>
                <a:latin typeface="Montserrat"/>
              </a:rPr>
              <a:t>Роль: [уточнить]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>
                <a:solidFill>
                  <a:srgbClr val="1C1D22"/>
                </a:solidFill>
                <a:latin typeface="Montserrat"/>
              </a:rPr>
              <a:t>Ник: [уточнить]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>
                <a:solidFill>
                  <a:srgbClr val="1C1D22"/>
                </a:solidFill>
                <a:latin typeface="Montserrat"/>
              </a:rPr>
              <a:t>Телефон: [уточнить]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>
                <a:solidFill>
                  <a:srgbClr val="1C1D22"/>
                </a:solidFill>
                <a:latin typeface="Montserrat"/>
              </a:rPr>
              <a:t>Работа / учёба: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>
                <a:solidFill>
                  <a:srgbClr val="1C1D22"/>
                </a:solidFill>
                <a:latin typeface="Montserrat"/>
              </a:rPr>
              <a:t>[уточнить]</a:t>
            </a: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wrap="square" anchor="ctr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310F53"/>
                </a:solidFill>
                <a:latin typeface="Montserrat"/>
              </a:rPr>
              <a:t>[ФИО]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310F53"/>
                </a:solidFill>
                <a:latin typeface="Montserrat"/>
              </a:rPr>
              <a:t>УТОЧНИТЬ</a:t>
            </a:r>
          </a:p>
        </p:txBody>
      </p: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/>
          <p:nvPr/>
        </p:nvSpPr>
        <p:spPr>
          <a:xfrm>
            <a:off x="956734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 txBox="1">
            <a:spLocks/>
          </p:cNvSpPr>
          <p:nvPr/>
        </p:nvSpPr>
        <p:spPr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wrap="square" anchor="t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None/>
            </a:pPr>
            <a:r>
              <a:rPr sz="1050" b="0">
                <a:solidFill>
                  <a:srgbClr val="1C1D22"/>
                </a:solidFill>
                <a:latin typeface="Montserrat"/>
              </a:rPr>
              <a:t>Роль: [уточнить]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>
                <a:solidFill>
                  <a:srgbClr val="1C1D22"/>
                </a:solidFill>
                <a:latin typeface="Montserrat"/>
              </a:rPr>
              <a:t>Ник: [уточнить]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>
                <a:solidFill>
                  <a:srgbClr val="1C1D22"/>
                </a:solidFill>
                <a:latin typeface="Montserrat"/>
              </a:rPr>
              <a:t>Телефон: [уточнить]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>
                <a:solidFill>
                  <a:srgbClr val="1C1D22"/>
                </a:solidFill>
                <a:latin typeface="Montserrat"/>
              </a:rPr>
              <a:t>Работа / учёба: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>
                <a:solidFill>
                  <a:srgbClr val="1C1D22"/>
                </a:solidFill>
                <a:latin typeface="Montserrat"/>
              </a:rPr>
              <a:t>[уточнить]</a:t>
            </a:r>
          </a:p>
        </p:txBody>
      </p:sp>
      <p:sp>
        <p:nvSpPr>
          <p:cNvPr id="67" name="Текст 8">
            <a:extLst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 txBox="1">
            <a:spLocks/>
          </p:cNvSpPr>
          <p:nvPr/>
        </p:nvSpPr>
        <p:spPr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wrap="square" anchor="ctr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310F53"/>
                </a:solidFill>
                <a:latin typeface="Montserrat"/>
              </a:rPr>
              <a:t>[ФИО]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310F53"/>
                </a:solidFill>
                <a:latin typeface="Montserrat"/>
              </a:rPr>
              <a:t>УТОЧНИТЬ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00" b="0">
                <a:solidFill>
                  <a:srgbClr val="1C1D22"/>
                </a:solidFill>
                <a:latin typeface="Montserrat"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81397" y="1816054"/>
            <a:ext cx="1722566" cy="1552901"/>
          </a:xfrm>
        </p:spPr>
        <p:txBody>
          <a:bodyPr/>
          <a:p/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886467" y="1826554"/>
            <a:ext cx="1722566" cy="1542401"/>
          </a:xfrm>
        </p:spPr>
        <p:txBody>
          <a:bodyPr/>
          <a:p/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191784" y="1809238"/>
            <a:ext cx="1722567" cy="1559717"/>
          </a:xfrm>
        </p:spPr>
        <p:txBody>
          <a:bodyPr/>
          <a:p/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7520208" y="1809238"/>
            <a:ext cx="1722567" cy="1559717"/>
          </a:xfrm>
        </p:spPr>
        <p:txBody>
          <a:bodyPr/>
          <a:p/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B1F74E3B-D178-4815-DD0C-A02592AA14E6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9802422" y="1809238"/>
            <a:ext cx="1722566" cy="1559717"/>
          </a:xfrm>
        </p:spPr>
        <p:txBody>
          <a:bodyPr/>
          <a:p/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000" b="1">
                <a:solidFill>
                  <a:srgbClr val="FFFFFF"/>
                </a:solidFill>
                <a:latin typeface="Montserrat"/>
              </a:rPr>
              <a:t>КОМАНДА AGI SPACE</a:t>
            </a:r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 wrap="square" anchor="t" lIns="0" rIns="0" tIns="0" bIns="0">
            <a:noAutofit/>
          </a:bodyPr>
          <a:lstStyle/>
          <a:p>
            <a:pPr rtl="0" fontAlgn="base"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None/>
            </a:pPr>
            <a:r>
              <a:rPr sz="1050" b="0">
                <a:solidFill>
                  <a:srgbClr val="1C1D22"/>
                </a:solidFill>
                <a:latin typeface="Montserrat"/>
              </a:rPr>
              <a:t>Роль: [уточнить]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>
                <a:solidFill>
                  <a:srgbClr val="1C1D22"/>
                </a:solidFill>
                <a:latin typeface="Montserrat"/>
              </a:rPr>
              <a:t>Ник: [уточнить]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>
                <a:solidFill>
                  <a:srgbClr val="1C1D22"/>
                </a:solidFill>
                <a:latin typeface="Montserrat"/>
              </a:rPr>
              <a:t>Телефон: [уточнить]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>
                <a:solidFill>
                  <a:srgbClr val="1C1D22"/>
                </a:solidFill>
                <a:latin typeface="Montserrat"/>
              </a:rPr>
              <a:t>Работа / учёба: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>
                <a:solidFill>
                  <a:srgbClr val="1C1D22"/>
                </a:solidFill>
                <a:latin typeface="Montserrat"/>
              </a:rPr>
              <a:t>[уточнить]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wrap="square" anchor="ctr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310F53"/>
                </a:solidFill>
                <a:latin typeface="Montserrat"/>
              </a:rPr>
              <a:t>[ФИО]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310F53"/>
                </a:solidFill>
                <a:latin typeface="Montserrat"/>
              </a:rPr>
              <a:t>УТОЧНИТЬ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00" b="0">
                <a:solidFill>
                  <a:srgbClr val="1C1D22"/>
                </a:solidFill>
                <a:latin typeface="Montserrat"/>
              </a:rPr>
              <a:t>4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000" b="1">
                <a:solidFill>
                  <a:srgbClr val="FFFFFF"/>
                </a:solidFill>
                <a:latin typeface="Montserrat"/>
              </a:rPr>
              <a:t>ПОЧЕМУ ЭТА ЗАДАЧА</a:t>
            </a:r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 wrap="square" anchor="t" lIns="0" rIns="0" tIns="0" bIns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310F53"/>
                </a:solidFill>
                <a:latin typeface="Montserrat"/>
              </a:rPr>
              <a:t>История формирования AGI Space, прошлые проекты и хакатоны: [УТОЧНИТЬ У КОМАНДЫ].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  <a:latin typeface="Montserrat"/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wrap="square" anchor="t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310F53"/>
                </a:solidFill>
                <a:latin typeface="Montserrat"/>
              </a:rPr>
              <a:t>Основной вызов — отделить ранний сигнал от зрелой темы и шума. В реализации разделены статус прогона, вердикт карточки, источники и гипотезы; правила считают оценку детерминированно.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  <a:latin typeface="Montserrat"/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  <a:latin typeface="Montserrat"/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wrap="square" anchor="t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310F53"/>
                </a:solidFill>
                <a:latin typeface="Montserrat"/>
              </a:rPr>
              <a:t>Продуктовая мотивация — дать аналитику проверяемую цепочку: что изменилось, чем подтверждено и какой вопрос проверить следующим.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wrap="square" anchor="t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10F53"/>
                </a:solidFill>
                <a:latin typeface="Montserrat"/>
              </a:rPr>
              <a:t>Раннее изменение важно заметить до того, как оно станет очевидным рынку.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  <a:latin typeface="Montserrat"/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  <a:latin typeface="Montserrat"/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  <a:latin typeface="Montserra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00" b="0">
                <a:solidFill>
                  <a:srgbClr val="1C1D22"/>
                </a:solidFill>
                <a:latin typeface="Montserrat"/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310F53"/>
                </a:solidFill>
                <a:latin typeface="Montserrat"/>
              </a:rPr>
              <a:t>Запрос → источники → чтение</a:t>
            </a:r>
          </a:p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310F53"/>
                </a:solidFill>
                <a:latin typeface="Montserrat"/>
              </a:rPr>
              <a:t/>
            </a:r>
          </a:p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310F53"/>
                </a:solidFill>
                <a:latin typeface="Montserrat"/>
              </a:rPr>
              <a:t>18 признаков и 6 контрпризнаков</a:t>
            </a:r>
          </a:p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310F53"/>
                </a:solidFill>
                <a:latin typeface="Montserrat"/>
              </a:rPr>
              <a:t/>
            </a:r>
          </a:p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310F53"/>
                </a:solidFill>
                <a:latin typeface="Montserrat"/>
              </a:rPr>
              <a:t>Детерминированная оценка</a:t>
            </a:r>
          </a:p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310F53"/>
                </a:solidFill>
                <a:latin typeface="Montserrat"/>
              </a:rPr>
              <a:t/>
            </a:r>
          </a:p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310F53"/>
                </a:solidFill>
                <a:latin typeface="Montserrat"/>
              </a:rPr>
              <a:t>Факты, гипотезы и проверки</a:t>
            </a:r>
          </a:p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310F53"/>
                </a:solidFill>
                <a:latin typeface="Montserrat"/>
              </a:rPr>
              <a:t/>
            </a:r>
          </a:p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310F53"/>
                </a:solidFill>
                <a:latin typeface="Montserrat"/>
              </a:rPr>
              <a:t>Три самостоятельных модуля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310F53"/>
                </a:solidFill>
                <a:latin typeface="Montserrat"/>
              </a:rPr>
              <a:t>Аналитик получает кандидатов с объяснениями, ссылками и следующими шагами проверки.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310F53"/>
                </a:solidFill>
                <a:latin typeface="Montserrat"/>
              </a:rPr>
              <a:t/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310F53"/>
                </a:solidFill>
                <a:latin typeface="Montserrat"/>
              </a:rPr>
              <a:t>Потенциал помогает не терять перспективные темы. Новая жизнь связывает старый задел со снятым ограничением.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310F53"/>
                </a:solidFill>
                <a:latin typeface="Montserrat"/>
              </a:rPr>
              <a:t/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310F53"/>
                </a:solidFill>
                <a:latin typeface="Montserrat"/>
              </a:rPr>
              <a:t>Развитие: независимая оценка → пилот с аналитиками → отраслевые профили и интеграции.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>
                <a:latin typeface="Montserrat"/>
              </a:rPr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  <a:latin typeface="Montserrat"/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  <a:latin typeface="Montserrat"/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59436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9184"/>
            <a:ext cx="10607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20978"/>
                </a:solidFill>
                <a:latin typeface="Montserrat"/>
              </a:rP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13816"/>
            <a:ext cx="11018520" cy="9052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310F53"/>
                </a:solidFill>
                <a:latin typeface="Montserrat"/>
              </a:rPr>
              <a:t>Раннее изменение теряется</a:t>
            </a:r>
          </a:p>
          <a:p>
            <a:pPr algn="l" marL="0" indent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310F53"/>
                </a:solidFill>
                <a:latin typeface="Montserrat"/>
              </a:rPr>
              <a:t>между новостью и решением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92224"/>
            <a:ext cx="10954512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4616C"/>
                </a:solidFill>
                <a:latin typeface="Montserrat"/>
              </a:rPr>
              <a:t>Задача аналитика — найти новое техническое основание и проверить, почему оно важно сейчас.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19088"/>
            <a:ext cx="11128248" cy="7315"/>
          </a:xfrm>
          <a:prstGeom prst="rect">
            <a:avLst/>
          </a:prstGeom>
          <a:solidFill>
            <a:srgbClr val="E5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6809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80" b="1">
                <a:solidFill>
                  <a:srgbClr val="64616C"/>
                </a:solidFill>
                <a:latin typeface="Montserrat"/>
              </a:rPr>
              <a:t>AGI SPACE  /  ТОНКИЕ СИГНАЛЫ  ·  КОНЦЕПТ 29.09.2026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10528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20978"/>
                </a:solidFill>
                <a:latin typeface="Montserrat"/>
              </a:rPr>
              <a:t>06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624328"/>
            <a:ext cx="3538728" cy="2706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2834640"/>
            <a:ext cx="41148" cy="530352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2834640"/>
            <a:ext cx="3136392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3429000"/>
            <a:ext cx="313639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900" b="1">
                <a:solidFill>
                  <a:srgbClr val="310F53"/>
                </a:solidFill>
                <a:latin typeface="Montserrat"/>
              </a:rPr>
              <a:t>Информационный шум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4059936"/>
            <a:ext cx="3136392" cy="11795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00" b="0">
                <a:solidFill>
                  <a:srgbClr val="64616C"/>
                </a:solidFill>
                <a:latin typeface="Montserrat"/>
              </a:rPr>
              <a:t>Одна публикация расходится по агрегаторам. Число упоминаний не равно числу независимых фактов.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624328"/>
            <a:ext cx="3538728" cy="2706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834640"/>
            <a:ext cx="41148" cy="530352"/>
          </a:xfrm>
          <a:prstGeom prst="rect">
            <a:avLst/>
          </a:prstGeom>
          <a:solidFill>
            <a:srgbClr val="520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834640"/>
            <a:ext cx="3136392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520978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429000"/>
            <a:ext cx="313639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900" b="1">
                <a:solidFill>
                  <a:srgbClr val="310F53"/>
                </a:solidFill>
                <a:latin typeface="Montserrat"/>
              </a:rPr>
              <a:t>Ложная новизна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059936"/>
            <a:ext cx="3136392" cy="11795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00" b="0">
                <a:solidFill>
                  <a:srgbClr val="64616C"/>
                </a:solidFill>
                <a:latin typeface="Montserrat"/>
              </a:rPr>
              <a:t>Известный рынок или зрелая категория могут выглядеть как новый сигнал без проверки контрпризнаков.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2624328"/>
            <a:ext cx="3538728" cy="2706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9872" y="2834640"/>
            <a:ext cx="41148" cy="530352"/>
          </a:xfrm>
          <a:prstGeom prst="rect">
            <a:avLst/>
          </a:prstGeom>
          <a:solidFill>
            <a:srgbClr val="8A8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834640"/>
            <a:ext cx="3136392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8A83D1"/>
                </a:solidFill>
                <a:latin typeface="Montserrat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429000"/>
            <a:ext cx="313639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900" b="1">
                <a:solidFill>
                  <a:srgbClr val="310F53"/>
                </a:solidFill>
                <a:latin typeface="Montserrat"/>
              </a:rPr>
              <a:t>Потерянный задел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059936"/>
            <a:ext cx="3136392" cy="11795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00" b="0">
                <a:solidFill>
                  <a:srgbClr val="64616C"/>
                </a:solidFill>
                <a:latin typeface="Montserrat"/>
              </a:rPr>
              <a:t>Старое направление становится интересным, когда меняются материалы, производство, стоимость или спрос.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5724144"/>
            <a:ext cx="11128248" cy="512064"/>
          </a:xfrm>
          <a:prstGeom prst="roundRect">
            <a:avLst>
              <a:gd name="adj" fmla="val 12000"/>
            </a:avLst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843016"/>
            <a:ext cx="10762488" cy="338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FFFFFF"/>
                </a:solidFill>
                <a:latin typeface="Montserrat"/>
              </a:rPr>
              <a:t>Ценность продукта: меньше времени на первичный разбор, больше внимания решающей проверке.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59436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9184"/>
            <a:ext cx="10607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20978"/>
                </a:solidFill>
                <a:latin typeface="Montserrat"/>
              </a:rPr>
              <a:t>ПРОДУКТ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13816"/>
            <a:ext cx="11018520" cy="9052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310F53"/>
                </a:solidFill>
                <a:latin typeface="Montserrat"/>
              </a:rPr>
              <a:t>Три модуля — три разных решения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92224"/>
            <a:ext cx="10954512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4616C"/>
                </a:solidFill>
                <a:latin typeface="Montserrat"/>
              </a:rPr>
              <a:t>Общий принцип: сохранить объяснение, источник и границу уверенности.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19088"/>
            <a:ext cx="11128248" cy="7315"/>
          </a:xfrm>
          <a:prstGeom prst="rect">
            <a:avLst/>
          </a:prstGeom>
          <a:solidFill>
            <a:srgbClr val="E5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6809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80" b="1">
                <a:solidFill>
                  <a:srgbClr val="64616C"/>
                </a:solidFill>
                <a:latin typeface="Montserrat"/>
              </a:rPr>
              <a:t>AGI SPACE  /  ТОНКИЕ СИГНАЛЫ  ·  КОНЦЕПТ 29.09.2026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10528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20978"/>
                </a:solidFill>
                <a:latin typeface="Montserrat"/>
              </a:rPr>
              <a:t>07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606040"/>
            <a:ext cx="3538728" cy="2852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2816352"/>
            <a:ext cx="41148" cy="530352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2816352"/>
            <a:ext cx="3136392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3410712"/>
            <a:ext cx="313639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900" b="1">
                <a:solidFill>
                  <a:srgbClr val="310F53"/>
                </a:solidFill>
                <a:latin typeface="Montserrat"/>
              </a:rPr>
              <a:t>Тонкие сигналы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4041648"/>
            <a:ext cx="3136392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00" b="0">
                <a:solidFill>
                  <a:srgbClr val="64616C"/>
                </a:solidFill>
                <a:latin typeface="Montserrat"/>
              </a:rPr>
              <a:t>Живой поиск по запросу.</a:t>
            </a:r>
          </a:p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00" b="0">
                <a:solidFill>
                  <a:srgbClr val="64616C"/>
                </a:solidFill>
                <a:latin typeface="Montserrat"/>
              </a:rPr>
              <a:t/>
            </a:r>
          </a:p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00" b="0">
                <a:solidFill>
                  <a:srgbClr val="64616C"/>
                </a:solidFill>
                <a:latin typeface="Montserrat"/>
              </a:rPr>
              <a:t>Признаки, оценка, допуск, наблюдение и причины исключения.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606040"/>
            <a:ext cx="3538728" cy="2852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816352"/>
            <a:ext cx="41148" cy="530352"/>
          </a:xfrm>
          <a:prstGeom prst="rect">
            <a:avLst/>
          </a:prstGeom>
          <a:solidFill>
            <a:srgbClr val="520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816352"/>
            <a:ext cx="3136392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520978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410712"/>
            <a:ext cx="313639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900" b="1">
                <a:solidFill>
                  <a:srgbClr val="310F53"/>
                </a:solidFill>
                <a:latin typeface="Montserrat"/>
              </a:rPr>
              <a:t>Потенциал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041648"/>
            <a:ext cx="3136392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00" b="0">
                <a:solidFill>
                  <a:srgbClr val="64616C"/>
                </a:solidFill>
                <a:latin typeface="Montserrat"/>
              </a:rPr>
              <a:t>Кандидаты ниже порога.</a:t>
            </a:r>
          </a:p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00" b="0">
                <a:solidFill>
                  <a:srgbClr val="64616C"/>
                </a:solidFill>
                <a:latin typeface="Montserrat"/>
              </a:rPr>
              <a:t/>
            </a:r>
          </a:p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00" b="0">
                <a:solidFill>
                  <a:srgbClr val="64616C"/>
                </a:solidFill>
                <a:latin typeface="Montserrat"/>
              </a:rPr>
              <a:t>Близость к допуску или выраженный потенциал — повод для следующей проверки.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2606040"/>
            <a:ext cx="3538728" cy="2852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9872" y="2816352"/>
            <a:ext cx="41148" cy="530352"/>
          </a:xfrm>
          <a:prstGeom prst="rect">
            <a:avLst/>
          </a:prstGeom>
          <a:solidFill>
            <a:srgbClr val="8A8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816352"/>
            <a:ext cx="3136392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8A83D1"/>
                </a:solidFill>
                <a:latin typeface="Montserrat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410712"/>
            <a:ext cx="313639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900" b="1">
                <a:solidFill>
                  <a:srgbClr val="310F53"/>
                </a:solidFill>
                <a:latin typeface="Montserrat"/>
              </a:rPr>
              <a:t>Новая жизнь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041648"/>
            <a:ext cx="3136392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00" b="0">
                <a:solidFill>
                  <a:srgbClr val="64616C"/>
                </a:solidFill>
                <a:latin typeface="Montserrat"/>
              </a:rPr>
              <a:t>Поиск по архиву задела.</a:t>
            </a:r>
          </a:p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00" b="0">
                <a:solidFill>
                  <a:srgbClr val="64616C"/>
                </a:solidFill>
                <a:latin typeface="Montserrat"/>
              </a:rPr>
              <a:t/>
            </a:r>
          </a:p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00" b="0">
                <a:solidFill>
                  <a:srgbClr val="64616C"/>
                </a:solidFill>
                <a:latin typeface="Montserrat"/>
              </a:rPr>
              <a:t>Старый барьер → новые условия → гипотеза продукта → сравнительный тест.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5724144"/>
            <a:ext cx="11128248" cy="512064"/>
          </a:xfrm>
          <a:prstGeom prst="roundRect">
            <a:avLst>
              <a:gd name="adj" fmla="val 12000"/>
            </a:avLst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843016"/>
            <a:ext cx="10762488" cy="338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FFFFFF"/>
                </a:solidFill>
                <a:latin typeface="Montserrat"/>
              </a:rPr>
              <a:t>Три очереди сохраняют собственный смысл: наблюдение, приоритет проверки и исследовательский архив.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59436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9184"/>
            <a:ext cx="10607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20978"/>
                </a:solidFill>
                <a:latin typeface="Montserrat"/>
              </a:rPr>
              <a:t>01 / ТОНКИЕ СИГНАЛЫ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13816"/>
            <a:ext cx="11018520" cy="9052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310F53"/>
                </a:solidFill>
                <a:latin typeface="Montserrat"/>
              </a:rPr>
              <a:t>От вопроса — к объяснённому результату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92224"/>
            <a:ext cx="10954512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4616C"/>
                </a:solidFill>
                <a:latin typeface="Montserrat"/>
              </a:rPr>
              <a:t>До 15 карточек в выдаче. Число результатов определяется найденными основаниями.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19088"/>
            <a:ext cx="11128248" cy="7315"/>
          </a:xfrm>
          <a:prstGeom prst="rect">
            <a:avLst/>
          </a:prstGeom>
          <a:solidFill>
            <a:srgbClr val="E5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6809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80" b="1">
                <a:solidFill>
                  <a:srgbClr val="64616C"/>
                </a:solidFill>
                <a:latin typeface="Montserrat"/>
              </a:rPr>
              <a:t>AGI SPACE  /  ТОНКИЕ СИГНАЛЫ  ·  КОНЦЕПТ 29.09.2026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10528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20978"/>
                </a:solidFill>
                <a:latin typeface="Montserrat"/>
              </a:rPr>
              <a:t>08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670048"/>
            <a:ext cx="2615184" cy="1810512"/>
          </a:xfrm>
          <a:prstGeom prst="roundRect">
            <a:avLst>
              <a:gd name="adj" fmla="val 12000"/>
            </a:avLst>
          </a:prstGeom>
          <a:solidFill>
            <a:srgbClr val="F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4944" y="2834640"/>
            <a:ext cx="365760" cy="283464"/>
          </a:xfrm>
          <a:prstGeom prst="roundRect">
            <a:avLst>
              <a:gd name="adj" fmla="val 12000"/>
            </a:avLst>
          </a:prstGeom>
          <a:solidFill>
            <a:srgbClr val="FF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866644"/>
            <a:ext cx="219456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0053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273552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>
                <a:solidFill>
                  <a:srgbClr val="310F53"/>
                </a:solidFill>
                <a:latin typeface="Montserrat"/>
              </a:rPr>
              <a:t>Запрос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776472"/>
            <a:ext cx="2267712" cy="5212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60" b="0">
                <a:solidFill>
                  <a:srgbClr val="64616C"/>
                </a:solidFill>
                <a:latin typeface="Montserrat"/>
              </a:rPr>
              <a:t>Направление и контекст</a:t>
            </a:r>
          </a:p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60" b="0">
                <a:solidFill>
                  <a:srgbClr val="64616C"/>
                </a:solidFill>
                <a:latin typeface="Montserrat"/>
              </a:rPr>
              <a:t>обычными словами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328416"/>
            <a:ext cx="21031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400" b="1">
                <a:solidFill>
                  <a:srgbClr val="FF0053"/>
                </a:solidFill>
                <a:latin typeface="Montserrat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2" y="2670048"/>
            <a:ext cx="2615184" cy="1810512"/>
          </a:xfrm>
          <a:prstGeom prst="roundRect">
            <a:avLst>
              <a:gd name="adj" fmla="val 12000"/>
            </a:avLst>
          </a:prstGeom>
          <a:solidFill>
            <a:srgbClr val="F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29584" y="2834640"/>
            <a:ext cx="365760" cy="283464"/>
          </a:xfrm>
          <a:prstGeom prst="roundRect">
            <a:avLst>
              <a:gd name="adj" fmla="val 12000"/>
            </a:avLst>
          </a:prstGeom>
          <a:solidFill>
            <a:srgbClr val="FF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2736" y="2866644"/>
            <a:ext cx="219456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0053"/>
                </a:solidFill>
                <a:latin typeface="Montserrat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3273552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>
                <a:solidFill>
                  <a:srgbClr val="310F53"/>
                </a:solidFill>
                <a:latin typeface="Montserrat"/>
              </a:rPr>
              <a:t>Источники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3776472"/>
            <a:ext cx="2267712" cy="5212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60" b="0">
                <a:solidFill>
                  <a:srgbClr val="64616C"/>
                </a:solidFill>
                <a:latin typeface="Montserrat"/>
              </a:rPr>
              <a:t>Поиск, дедупликация,</a:t>
            </a:r>
          </a:p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60" b="0">
                <a:solidFill>
                  <a:srgbClr val="64616C"/>
                </a:solidFill>
                <a:latin typeface="Montserrat"/>
              </a:rPr>
              <a:t>чтение фрагментов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328416"/>
            <a:ext cx="21031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400" b="1">
                <a:solidFill>
                  <a:srgbClr val="FF0053"/>
                </a:solidFill>
                <a:latin typeface="Montserrat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2670048"/>
            <a:ext cx="2615184" cy="1810512"/>
          </a:xfrm>
          <a:prstGeom prst="roundRect">
            <a:avLst>
              <a:gd name="adj" fmla="val 12000"/>
            </a:avLst>
          </a:prstGeom>
          <a:solidFill>
            <a:srgbClr val="F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64224" y="2834640"/>
            <a:ext cx="365760" cy="283464"/>
          </a:xfrm>
          <a:prstGeom prst="roundRect">
            <a:avLst>
              <a:gd name="adj" fmla="val 12000"/>
            </a:avLst>
          </a:prstGeom>
          <a:solidFill>
            <a:srgbClr val="FF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2866644"/>
            <a:ext cx="219456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0053"/>
                </a:solidFill>
                <a:latin typeface="Montserra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3273552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>
                <a:solidFill>
                  <a:srgbClr val="310F53"/>
                </a:solidFill>
                <a:latin typeface="Montserrat"/>
              </a:rPr>
              <a:t>Проверки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776472"/>
            <a:ext cx="2267712" cy="5212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60" b="0">
                <a:solidFill>
                  <a:srgbClr val="64616C"/>
                </a:solidFill>
                <a:latin typeface="Montserrat"/>
              </a:rPr>
              <a:t>P01–P18, M01–M06,</a:t>
            </a:r>
          </a:p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60" b="0">
                <a:solidFill>
                  <a:srgbClr val="64616C"/>
                </a:solidFill>
                <a:latin typeface="Montserrat"/>
              </a:rPr>
              <a:t>переход стадии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328416"/>
            <a:ext cx="21031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400" b="1">
                <a:solidFill>
                  <a:srgbClr val="FF0053"/>
                </a:solidFill>
                <a:latin typeface="Montserrat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34272" y="2670048"/>
            <a:ext cx="2615184" cy="1810512"/>
          </a:xfrm>
          <a:prstGeom prst="roundRect">
            <a:avLst>
              <a:gd name="adj" fmla="val 12000"/>
            </a:avLst>
          </a:prstGeom>
          <a:solidFill>
            <a:srgbClr val="F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98864" y="2834640"/>
            <a:ext cx="365760" cy="283464"/>
          </a:xfrm>
          <a:prstGeom prst="roundRect">
            <a:avLst>
              <a:gd name="adj" fmla="val 12000"/>
            </a:avLst>
          </a:prstGeom>
          <a:solidFill>
            <a:srgbClr val="FF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72016" y="2866644"/>
            <a:ext cx="219456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0053"/>
                </a:solidFill>
                <a:latin typeface="Montserrat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8864" y="3273552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>
                <a:solidFill>
                  <a:srgbClr val="310F53"/>
                </a:solidFill>
                <a:latin typeface="Montserrat"/>
              </a:rPr>
              <a:t>Результат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98864" y="3776472"/>
            <a:ext cx="2267712" cy="5212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60" b="0">
                <a:solidFill>
                  <a:srgbClr val="64616C"/>
                </a:solidFill>
                <a:latin typeface="Montserrat"/>
              </a:rPr>
              <a:t>Вердикт, оценка,</a:t>
            </a:r>
          </a:p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60" b="0">
                <a:solidFill>
                  <a:srgbClr val="64616C"/>
                </a:solidFill>
                <a:latin typeface="Montserrat"/>
              </a:rPr>
              <a:t>источники и причины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0352" y="4818888"/>
            <a:ext cx="11128248" cy="576072"/>
          </a:xfrm>
          <a:prstGeom prst="roundRect">
            <a:avLst>
              <a:gd name="adj" fmla="val 12000"/>
            </a:avLst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992624"/>
            <a:ext cx="1072591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40" b="1">
                <a:solidFill>
                  <a:srgbClr val="FFFFFF"/>
                </a:solidFill>
                <a:latin typeface="Montserrat"/>
              </a:rPr>
              <a:t>rules-0.1:  &lt;0,35 — не допущено  /  0,35 ≤ балл &lt;0,60 — наблюдение  /  ≥0,60 — слабый сигнал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5724144"/>
            <a:ext cx="11128248" cy="512064"/>
          </a:xfrm>
          <a:prstGeom prst="roundRect">
            <a:avLst>
              <a:gd name="adj" fmla="val 12000"/>
            </a:avLst>
          </a:prstGeom>
          <a:solidFill>
            <a:srgbClr val="F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843016"/>
            <a:ext cx="10762488" cy="338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10F53"/>
                </a:solidFill>
                <a:latin typeface="Montserrat"/>
              </a:rPr>
              <a:t>Позиция в списке не меняет вердикт: «наблюдение» остаётся наблюдением.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59436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9184"/>
            <a:ext cx="10607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20978"/>
                </a:solidFill>
                <a:latin typeface="Montserrat"/>
              </a:rPr>
              <a:t>02 / ПОТЕНЦИАЛ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13816"/>
            <a:ext cx="11018520" cy="9052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310F53"/>
                </a:solidFill>
                <a:latin typeface="Montserrat"/>
              </a:rPr>
              <a:t>Не прошёл порог —</a:t>
            </a:r>
          </a:p>
          <a:p>
            <a:pPr algn="l" marL="0" indent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310F53"/>
                </a:solidFill>
                <a:latin typeface="Montserrat"/>
              </a:rPr>
              <a:t>может заслуживать следующей проверки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92224"/>
            <a:ext cx="10954512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4616C"/>
                </a:solidFill>
                <a:latin typeface="Montserrat"/>
              </a:rPr>
              <a:t>Отдельная очередь повторного анализа; основной допуск и его правила остаются неизменными.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19088"/>
            <a:ext cx="11128248" cy="7315"/>
          </a:xfrm>
          <a:prstGeom prst="rect">
            <a:avLst/>
          </a:prstGeom>
          <a:solidFill>
            <a:srgbClr val="E5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6809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80" b="1">
                <a:solidFill>
                  <a:srgbClr val="64616C"/>
                </a:solidFill>
                <a:latin typeface="Montserrat"/>
              </a:rPr>
              <a:t>AGI SPACE  /  ТОНКИЕ СИГНАЛЫ  ·  КОНЦЕПТ 29.09.2026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10528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20978"/>
                </a:solidFill>
                <a:latin typeface="Montserrat"/>
              </a:rPr>
              <a:t>09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615184"/>
            <a:ext cx="4608576" cy="2715768"/>
          </a:xfrm>
          <a:prstGeom prst="roundRect">
            <a:avLst>
              <a:gd name="adj" fmla="val 12000"/>
            </a:avLst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862072"/>
            <a:ext cx="4078224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00" b="1">
                <a:solidFill>
                  <a:srgbClr val="FFD6E4"/>
                </a:solidFill>
                <a:latin typeface="Montserrat"/>
              </a:rPr>
              <a:t>КАК КАНДИДАТ ПОПАДАЕТ В ОЧЕРЕДЬ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383280"/>
            <a:ext cx="407822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300" b="1">
                <a:solidFill>
                  <a:srgbClr val="FFFFFF"/>
                </a:solidFill>
                <a:latin typeface="Montserrat"/>
              </a:rPr>
              <a:t>Близок к порогу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3977639"/>
            <a:ext cx="594360" cy="283464"/>
          </a:xfrm>
          <a:prstGeom prst="roundRect">
            <a:avLst>
              <a:gd name="adj" fmla="val 12000"/>
            </a:avLst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009644"/>
            <a:ext cx="448056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FFFF"/>
                </a:solidFill>
                <a:latin typeface="Montserrat"/>
              </a:rPr>
              <a:t>ИЛИ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535424"/>
            <a:ext cx="4078224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7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000" b="1">
                <a:solidFill>
                  <a:srgbClr val="FFFFFF"/>
                </a:solidFill>
                <a:latin typeface="Montserrat"/>
              </a:rPr>
              <a:t>Высокий потенциал</a:t>
            </a:r>
          </a:p>
          <a:p>
            <a:pPr algn="l" marL="0" indent="0">
              <a:lnSpc>
                <a:spcPct val="107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000" b="1">
                <a:solidFill>
                  <a:srgbClr val="FFFFFF"/>
                </a:solidFill>
                <a:latin typeface="Montserrat"/>
              </a:rPr>
              <a:t>по найденным признакам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8112" y="2660904"/>
            <a:ext cx="6190488" cy="795528"/>
          </a:xfrm>
          <a:prstGeom prst="roundRect">
            <a:avLst>
              <a:gd name="adj" fmla="val 12000"/>
            </a:avLst>
          </a:prstGeom>
          <a:solidFill>
            <a:srgbClr val="F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68112" y="2798064"/>
            <a:ext cx="41148" cy="484632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87568" y="2770632"/>
            <a:ext cx="57424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600" b="1">
                <a:solidFill>
                  <a:srgbClr val="310F53"/>
                </a:solidFill>
                <a:latin typeface="Montserrat"/>
              </a:rPr>
              <a:t>Технический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87568" y="3118104"/>
            <a:ext cx="574243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4616C"/>
                </a:solidFill>
                <a:latin typeface="Montserrat"/>
              </a:rPr>
              <a:t>Новый механизм, эффективность, применение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3584448"/>
            <a:ext cx="6190488" cy="795528"/>
          </a:xfrm>
          <a:prstGeom prst="roundRect">
            <a:avLst>
              <a:gd name="adj" fmla="val 12000"/>
            </a:avLst>
          </a:prstGeom>
          <a:solidFill>
            <a:srgbClr val="F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68112" y="3721608"/>
            <a:ext cx="41148" cy="484632"/>
          </a:xfrm>
          <a:prstGeom prst="rect">
            <a:avLst/>
          </a:prstGeom>
          <a:solidFill>
            <a:srgbClr val="520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87568" y="3694176"/>
            <a:ext cx="57424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600" b="1">
                <a:solidFill>
                  <a:srgbClr val="310F53"/>
                </a:solidFill>
                <a:latin typeface="Montserrat"/>
              </a:rPr>
              <a:t>Спрос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4041648"/>
            <a:ext cx="574243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4616C"/>
                </a:solidFill>
                <a:latin typeface="Montserrat"/>
              </a:rPr>
              <a:t>Пользователь, стимул, ценность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68112" y="4507992"/>
            <a:ext cx="6190488" cy="795528"/>
          </a:xfrm>
          <a:prstGeom prst="roundRect">
            <a:avLst>
              <a:gd name="adj" fmla="val 12000"/>
            </a:avLst>
          </a:prstGeom>
          <a:solidFill>
            <a:srgbClr val="F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68112" y="4645152"/>
            <a:ext cx="41148" cy="484632"/>
          </a:xfrm>
          <a:prstGeom prst="rect">
            <a:avLst/>
          </a:prstGeom>
          <a:solidFill>
            <a:srgbClr val="8A8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87568" y="4617720"/>
            <a:ext cx="57424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600" b="1">
                <a:solidFill>
                  <a:srgbClr val="310F53"/>
                </a:solidFill>
                <a:latin typeface="Montserrat"/>
              </a:rPr>
              <a:t>Развитие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87568" y="4965192"/>
            <a:ext cx="574243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4616C"/>
                </a:solidFill>
                <a:latin typeface="Montserrat"/>
              </a:rPr>
              <a:t>Экосистема, конвергенция, исследовательский задел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" y="5724144"/>
            <a:ext cx="11128248" cy="512064"/>
          </a:xfrm>
          <a:prstGeom prst="roundRect">
            <a:avLst>
              <a:gd name="adj" fmla="val 12000"/>
            </a:avLst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5843016"/>
            <a:ext cx="10762488" cy="338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FFFFFF"/>
                </a:solidFill>
                <a:latin typeface="Montserrat"/>
              </a:rPr>
              <a:t>Шкала 0–100 означает приоритет проверки, а не вероятность спроса, внедрения или доходности.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59436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9184"/>
            <a:ext cx="10607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20978"/>
                </a:solidFill>
                <a:latin typeface="Montserrat"/>
              </a:rPr>
              <a:t>03 / НОВАЯ ЖИЗНЬ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13816"/>
            <a:ext cx="11018520" cy="9052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310F53"/>
                </a:solidFill>
                <a:latin typeface="Montserrat"/>
              </a:rPr>
              <a:t>Старый задел. Новые условия.</a:t>
            </a:r>
          </a:p>
          <a:p>
            <a:pPr algn="l" marL="0" indent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310F53"/>
                </a:solidFill>
                <a:latin typeface="Montserrat"/>
              </a:rPr>
              <a:t>Проверяемое применение.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92224"/>
            <a:ext cx="10954512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4616C"/>
                </a:solidFill>
                <a:latin typeface="Montserrat"/>
              </a:rPr>
              <a:t>Поиск по зафиксированному исследовательскому архиву от 29.09.2026 — не свежий веб-поиск.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19088"/>
            <a:ext cx="11128248" cy="7315"/>
          </a:xfrm>
          <a:prstGeom prst="rect">
            <a:avLst/>
          </a:prstGeom>
          <a:solidFill>
            <a:srgbClr val="E5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6809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80" b="1">
                <a:solidFill>
                  <a:srgbClr val="64616C"/>
                </a:solidFill>
                <a:latin typeface="Montserrat"/>
              </a:rPr>
              <a:t>AGI SPACE  /  ТОНКИЕ СИГНАЛЫ  ·  КОНЦЕПТ 29.09.2026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10528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20978"/>
                </a:solidFill>
                <a:latin typeface="Montserrat"/>
              </a:rPr>
              <a:t>10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587752"/>
            <a:ext cx="11128248" cy="612648"/>
          </a:xfrm>
          <a:prstGeom prst="roundRect">
            <a:avLst>
              <a:gd name="adj" fmla="val 12000"/>
            </a:avLst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743200"/>
            <a:ext cx="10671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>
                <a:solidFill>
                  <a:srgbClr val="FFFFFF"/>
                </a:solidFill>
                <a:latin typeface="Montserrat"/>
              </a:rPr>
              <a:t>Пример из архива: насосы Кнудсена для газоанализа на микрочипе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3447288"/>
            <a:ext cx="3538728" cy="1508760"/>
          </a:xfrm>
          <a:prstGeom prst="roundRect">
            <a:avLst>
              <a:gd name="adj" fmla="val 12000"/>
            </a:avLst>
          </a:prstGeom>
          <a:solidFill>
            <a:srgbClr val="F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621024"/>
            <a:ext cx="317296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600" b="1">
                <a:solidFill>
                  <a:srgbClr val="310F53"/>
                </a:solidFill>
                <a:latin typeface="Montserrat"/>
              </a:rPr>
              <a:t>Старый барьер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096512"/>
            <a:ext cx="3172968" cy="6766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80" b="0">
                <a:solidFill>
                  <a:srgbClr val="64616C"/>
                </a:solidFill>
                <a:latin typeface="Montserrat"/>
              </a:rPr>
              <a:t>Сложно изготовить узкие каналы; малая производительность и теплопотери.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3447288"/>
            <a:ext cx="3538728" cy="1508760"/>
          </a:xfrm>
          <a:prstGeom prst="roundRect">
            <a:avLst>
              <a:gd name="adj" fmla="val 12000"/>
            </a:avLst>
          </a:prstGeom>
          <a:solidFill>
            <a:srgbClr val="F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3621024"/>
            <a:ext cx="317296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600" b="1">
                <a:solidFill>
                  <a:srgbClr val="310F53"/>
                </a:solidFill>
                <a:latin typeface="Montserrat"/>
              </a:rPr>
              <a:t>Что изменилось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4096512"/>
            <a:ext cx="3172968" cy="6766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80" b="0">
                <a:solidFill>
                  <a:srgbClr val="64616C"/>
                </a:solidFill>
                <a:latin typeface="Montserrat"/>
              </a:rPr>
              <a:t>MEMS-процессы и интеграция компонентов в газоаналитический чип.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3447288"/>
            <a:ext cx="3538728" cy="1508760"/>
          </a:xfrm>
          <a:prstGeom prst="roundRect">
            <a:avLst>
              <a:gd name="adj" fmla="val 12000"/>
            </a:avLst>
          </a:prstGeom>
          <a:solidFill>
            <a:srgbClr val="F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3621024"/>
            <a:ext cx="317296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600" b="1">
                <a:solidFill>
                  <a:srgbClr val="310F53"/>
                </a:solidFill>
                <a:latin typeface="Montserrat"/>
              </a:rPr>
              <a:t>Гипотеза продукта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4096512"/>
            <a:ext cx="3172968" cy="6766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80" b="0">
                <a:solidFill>
                  <a:srgbClr val="64616C"/>
                </a:solidFill>
                <a:latin typeface="Montserrat"/>
              </a:rPr>
              <a:t>Модуль переносного газоанализатора. Требует сравнения с микронасосом.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5239512"/>
            <a:ext cx="258775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100" b="1">
                <a:solidFill>
                  <a:srgbClr val="520978"/>
                </a:solidFill>
                <a:latin typeface="Montserrat"/>
              </a:rPr>
              <a:t>15 кандидатов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5294376"/>
            <a:ext cx="8119872" cy="338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600" b="1">
                <a:solidFill>
                  <a:srgbClr val="64616C"/>
                </a:solidFill>
                <a:latin typeface="Montserrat"/>
              </a:rPr>
              <a:t>0 полностью прошли коммерческую и правовую квалификацию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5724144"/>
            <a:ext cx="11128248" cy="512064"/>
          </a:xfrm>
          <a:prstGeom prst="roundRect">
            <a:avLst>
              <a:gd name="adj" fmla="val 12000"/>
            </a:avLst>
          </a:prstGeom>
          <a:solidFill>
            <a:srgbClr val="F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843016"/>
            <a:ext cx="10762488" cy="338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10F53"/>
                </a:solidFill>
                <a:latin typeface="Montserrat"/>
              </a:rPr>
              <a:t>Выход: первый продукт, возможный покупатель, риски, открытые вопросы и решающий эксперимент.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59436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9184"/>
            <a:ext cx="10607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20978"/>
                </a:solidFill>
                <a:latin typeface="Montserrat"/>
              </a:rPr>
              <a:t>ДОВЕРИЕ К РЕЗУЛЬТАТУ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13816"/>
            <a:ext cx="11018520" cy="9052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310F53"/>
                </a:solidFill>
                <a:latin typeface="Montserrat"/>
              </a:rPr>
              <a:t>У каждого вывода — свой уровень основания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92224"/>
            <a:ext cx="10954512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4616C"/>
                </a:solidFill>
                <a:latin typeface="Montserrat"/>
              </a:rPr>
              <a:t>Карточка разделяет то, что найдено в источниках, и то, что ещё предстоит проверить.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19088"/>
            <a:ext cx="11128248" cy="7315"/>
          </a:xfrm>
          <a:prstGeom prst="rect">
            <a:avLst/>
          </a:prstGeom>
          <a:solidFill>
            <a:srgbClr val="E5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6809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80" b="1">
                <a:solidFill>
                  <a:srgbClr val="64616C"/>
                </a:solidFill>
                <a:latin typeface="Montserrat"/>
              </a:rPr>
              <a:t>AGI SPACE  /  ТОНКИЕ СИГНАЛЫ  ·  КОНЦЕПТ 29.09.2026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10528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20978"/>
                </a:solidFill>
                <a:latin typeface="Montserrat"/>
              </a:rPr>
              <a:t>11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642616"/>
            <a:ext cx="2615184" cy="1737360"/>
          </a:xfrm>
          <a:prstGeom prst="roundRect">
            <a:avLst>
              <a:gd name="adj" fmla="val 12000"/>
            </a:avLst>
          </a:prstGeom>
          <a:solidFill>
            <a:srgbClr val="F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" y="2834640"/>
            <a:ext cx="429768" cy="41148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063240"/>
            <a:ext cx="226771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900" b="1">
                <a:solidFill>
                  <a:srgbClr val="310F53"/>
                </a:solidFill>
                <a:latin typeface="Montserrat"/>
              </a:rPr>
              <a:t>Факты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602736"/>
            <a:ext cx="2267712" cy="4663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80" b="0">
                <a:solidFill>
                  <a:srgbClr val="64616C"/>
                </a:solidFill>
                <a:latin typeface="Montserrat"/>
              </a:rPr>
              <a:t>Доступные фрагменты</a:t>
            </a:r>
          </a:p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80" b="0">
                <a:solidFill>
                  <a:srgbClr val="64616C"/>
                </a:solidFill>
                <a:latin typeface="Montserrat"/>
              </a:rPr>
              <a:t>и их ссылки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2642616"/>
            <a:ext cx="2615184" cy="1737360"/>
          </a:xfrm>
          <a:prstGeom prst="roundRect">
            <a:avLst>
              <a:gd name="adj" fmla="val 12000"/>
            </a:avLst>
          </a:prstGeom>
          <a:solidFill>
            <a:srgbClr val="F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8728" y="2834640"/>
            <a:ext cx="429768" cy="41148"/>
          </a:xfrm>
          <a:prstGeom prst="rect">
            <a:avLst/>
          </a:prstGeom>
          <a:solidFill>
            <a:srgbClr val="520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3063240"/>
            <a:ext cx="226771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900" b="1">
                <a:solidFill>
                  <a:srgbClr val="310F53"/>
                </a:solidFill>
                <a:latin typeface="Montserrat"/>
              </a:rPr>
              <a:t>Гипотезы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3602736"/>
            <a:ext cx="2267712" cy="4663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80" b="0">
                <a:solidFill>
                  <a:srgbClr val="64616C"/>
                </a:solidFill>
                <a:latin typeface="Montserrat"/>
              </a:rPr>
              <a:t>Применение, выгода</a:t>
            </a:r>
          </a:p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80" b="0">
                <a:solidFill>
                  <a:srgbClr val="64616C"/>
                </a:solidFill>
                <a:latin typeface="Montserrat"/>
              </a:rPr>
              <a:t>и открытые вопросы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642616"/>
            <a:ext cx="2615184" cy="1737360"/>
          </a:xfrm>
          <a:prstGeom prst="roundRect">
            <a:avLst>
              <a:gd name="adj" fmla="val 12000"/>
            </a:avLst>
          </a:prstGeom>
          <a:solidFill>
            <a:srgbClr val="F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73368" y="2834640"/>
            <a:ext cx="429768" cy="41148"/>
          </a:xfrm>
          <a:prstGeom prst="rect">
            <a:avLst/>
          </a:prstGeom>
          <a:solidFill>
            <a:srgbClr val="8A8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3063240"/>
            <a:ext cx="226771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900" b="1">
                <a:solidFill>
                  <a:srgbClr val="310F53"/>
                </a:solidFill>
                <a:latin typeface="Montserrat"/>
              </a:rPr>
              <a:t>Проверки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602736"/>
            <a:ext cx="2267712" cy="4663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80" b="0">
                <a:solidFill>
                  <a:srgbClr val="64616C"/>
                </a:solidFill>
                <a:latin typeface="Montserrat"/>
              </a:rPr>
              <a:t>Признаки, контрпризнаки,</a:t>
            </a:r>
          </a:p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80" b="0">
                <a:solidFill>
                  <a:srgbClr val="64616C"/>
                </a:solidFill>
                <a:latin typeface="Montserrat"/>
              </a:rPr>
              <a:t>вклад в оценку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34272" y="2642616"/>
            <a:ext cx="2615184" cy="1737360"/>
          </a:xfrm>
          <a:prstGeom prst="roundRect">
            <a:avLst>
              <a:gd name="adj" fmla="val 12000"/>
            </a:avLst>
          </a:prstGeom>
          <a:solidFill>
            <a:srgbClr val="F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08008" y="2834640"/>
            <a:ext cx="429768" cy="41148"/>
          </a:xfrm>
          <a:prstGeom prst="rect">
            <a:avLst/>
          </a:prstGeom>
          <a:solidFill>
            <a:srgbClr val="237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8008" y="3063240"/>
            <a:ext cx="226771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900" b="1">
                <a:solidFill>
                  <a:srgbClr val="310F53"/>
                </a:solidFill>
                <a:latin typeface="Montserrat"/>
              </a:rPr>
              <a:t>Источники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3602736"/>
            <a:ext cx="2267712" cy="4663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80" b="0">
                <a:solidFill>
                  <a:srgbClr val="64616C"/>
                </a:solidFill>
                <a:latin typeface="Montserrat"/>
              </a:rPr>
              <a:t>Документ, дата, тип</a:t>
            </a:r>
          </a:p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80" b="0">
                <a:solidFill>
                  <a:srgbClr val="64616C"/>
                </a:solidFill>
                <a:latin typeface="Montserrat"/>
              </a:rPr>
              <a:t>и происхождение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90288"/>
            <a:ext cx="107899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>
                <a:solidFill>
                  <a:srgbClr val="310F53"/>
                </a:solidFill>
                <a:latin typeface="Montserrat"/>
              </a:rPr>
              <a:t>Фрагмент  →  признак  →  вклад в оценку  →  вердикт  →  решение аналитика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102352"/>
            <a:ext cx="10735056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350" b="0">
                <a:solidFill>
                  <a:srgbClr val="64616C"/>
                </a:solidFill>
                <a:latin typeface="Montserrat"/>
              </a:rPr>
              <a:t>Модель структурирует материал. Код рассчитывает балл. Человек оценивает полезность.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" y="5724144"/>
            <a:ext cx="11128248" cy="512064"/>
          </a:xfrm>
          <a:prstGeom prst="roundRect">
            <a:avLst>
              <a:gd name="adj" fmla="val 12000"/>
            </a:avLst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5843016"/>
            <a:ext cx="10762488" cy="338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FFFFFF"/>
                </a:solidFill>
                <a:latin typeface="Montserrat"/>
              </a:rPr>
              <a:t>Статус verified требует ссылки на переданный фрагмент; неподтверждённый вывод не повышает оценку.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59436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9184"/>
            <a:ext cx="10607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20978"/>
                </a:solidFill>
                <a:latin typeface="Montserrat"/>
              </a:rPr>
              <a:t>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13816"/>
            <a:ext cx="11018520" cy="9052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310F53"/>
                </a:solidFill>
                <a:latin typeface="Montserrat"/>
              </a:rPr>
              <a:t>Единый путь от источника до карточки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92224"/>
            <a:ext cx="10954512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4616C"/>
                </a:solidFill>
                <a:latin typeface="Montserrat"/>
              </a:rPr>
              <a:t>В рабочем контуре: FastAPI, Streamlit и PostgreSQL; версии правил и чтения сохранены.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19088"/>
            <a:ext cx="11128248" cy="7315"/>
          </a:xfrm>
          <a:prstGeom prst="rect">
            <a:avLst/>
          </a:prstGeom>
          <a:solidFill>
            <a:srgbClr val="E5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6809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80" b="1">
                <a:solidFill>
                  <a:srgbClr val="64616C"/>
                </a:solidFill>
                <a:latin typeface="Montserrat"/>
              </a:rPr>
              <a:t>AGI SPACE  /  ТОНКИЕ СИГНАЛЫ  ·  КОНЦЕПТ 29.09.2026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10528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20978"/>
                </a:solidFill>
                <a:latin typeface="Montserrat"/>
              </a:rPr>
              <a:t>12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688336"/>
            <a:ext cx="2057400" cy="1728216"/>
          </a:xfrm>
          <a:prstGeom prst="roundRect">
            <a:avLst>
              <a:gd name="adj" fmla="val 12000"/>
            </a:avLst>
          </a:prstGeom>
          <a:solidFill>
            <a:srgbClr val="F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926080"/>
            <a:ext cx="172821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20" b="1">
                <a:solidFill>
                  <a:srgbClr val="310F53"/>
                </a:solidFill>
                <a:latin typeface="Montserrat"/>
              </a:rPr>
              <a:t>Запрос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547872"/>
            <a:ext cx="1728216" cy="5212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20" b="0">
                <a:solidFill>
                  <a:srgbClr val="64616C"/>
                </a:solidFill>
                <a:latin typeface="Montserrat"/>
              </a:rPr>
              <a:t>API + план поиска</a:t>
            </a:r>
          </a:p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20" b="0">
                <a:solidFill>
                  <a:srgbClr val="64616C"/>
                </a:solidFill>
                <a:latin typeface="Montserrat"/>
              </a:rPr>
              <a:t>темы и контекст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6896" y="3319272"/>
            <a:ext cx="20116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400" b="1">
                <a:solidFill>
                  <a:srgbClr val="FF0053"/>
                </a:solidFill>
                <a:latin typeface="Montserrat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8064" y="2688336"/>
            <a:ext cx="2057400" cy="1728216"/>
          </a:xfrm>
          <a:prstGeom prst="roundRect">
            <a:avLst>
              <a:gd name="adj" fmla="val 12000"/>
            </a:avLst>
          </a:prstGeom>
          <a:solidFill>
            <a:srgbClr val="F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62656" y="2926080"/>
            <a:ext cx="172821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20" b="1">
                <a:solidFill>
                  <a:srgbClr val="310F53"/>
                </a:solidFill>
                <a:latin typeface="Montserrat"/>
              </a:rPr>
              <a:t>Сбор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3547872"/>
            <a:ext cx="1728216" cy="5212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20" b="0">
                <a:solidFill>
                  <a:srgbClr val="64616C"/>
                </a:solidFill>
                <a:latin typeface="Montserrat"/>
              </a:rPr>
              <a:t>Коннекторы</a:t>
            </a:r>
          </a:p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20" b="0">
                <a:solidFill>
                  <a:srgbClr val="64616C"/>
                </a:solidFill>
                <a:latin typeface="Montserrat"/>
              </a:rPr>
              <a:t>дедупликация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8" y="3319272"/>
            <a:ext cx="20116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400" b="1">
                <a:solidFill>
                  <a:srgbClr val="FF0053"/>
                </a:solidFill>
                <a:latin typeface="Montserrat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65776" y="2688336"/>
            <a:ext cx="2057400" cy="1728216"/>
          </a:xfrm>
          <a:prstGeom prst="roundRect">
            <a:avLst>
              <a:gd name="adj" fmla="val 12000"/>
            </a:avLst>
          </a:prstGeom>
          <a:solidFill>
            <a:srgbClr val="F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0368" y="2926080"/>
            <a:ext cx="172821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20" b="1">
                <a:solidFill>
                  <a:srgbClr val="310F53"/>
                </a:solidFill>
                <a:latin typeface="Montserrat"/>
              </a:rPr>
              <a:t>Чтение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3547872"/>
            <a:ext cx="1728216" cy="5212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20" b="0">
                <a:solidFill>
                  <a:srgbClr val="64616C"/>
                </a:solidFill>
                <a:latin typeface="Montserrat"/>
              </a:rPr>
              <a:t>Фрагменты</a:t>
            </a:r>
          </a:p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20" b="0">
                <a:solidFill>
                  <a:srgbClr val="64616C"/>
                </a:solidFill>
                <a:latin typeface="Montserrat"/>
              </a:rPr>
              <a:t>LLM-чек-лист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319272"/>
            <a:ext cx="20116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400" b="1">
                <a:solidFill>
                  <a:srgbClr val="FF0053"/>
                </a:solidFill>
                <a:latin typeface="Montserrat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33488" y="2688336"/>
            <a:ext cx="2057400" cy="1728216"/>
          </a:xfrm>
          <a:prstGeom prst="roundRect">
            <a:avLst>
              <a:gd name="adj" fmla="val 12000"/>
            </a:avLst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2926080"/>
            <a:ext cx="172821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20" b="1">
                <a:solidFill>
                  <a:srgbClr val="FFFFFF"/>
                </a:solidFill>
                <a:latin typeface="Montserrat"/>
              </a:rPr>
              <a:t>Решение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547872"/>
            <a:ext cx="1728216" cy="5212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20" b="0">
                <a:solidFill>
                  <a:srgbClr val="E9DFF1"/>
                </a:solidFill>
                <a:latin typeface="Montserrat"/>
              </a:rPr>
              <a:t>Правила</a:t>
            </a:r>
          </a:p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20" b="0">
                <a:solidFill>
                  <a:srgbClr val="E9DFF1"/>
                </a:solidFill>
                <a:latin typeface="Montserrat"/>
              </a:rPr>
              <a:t>оценка и причины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3319272"/>
            <a:ext cx="20116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400" b="1">
                <a:solidFill>
                  <a:srgbClr val="FF0053"/>
                </a:solidFill>
                <a:latin typeface="Montserrat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2688336"/>
            <a:ext cx="2057400" cy="1728216"/>
          </a:xfrm>
          <a:prstGeom prst="roundRect">
            <a:avLst>
              <a:gd name="adj" fmla="val 12000"/>
            </a:avLst>
          </a:prstGeom>
          <a:solidFill>
            <a:srgbClr val="F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65792" y="2926080"/>
            <a:ext cx="172821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20" b="1">
                <a:solidFill>
                  <a:srgbClr val="310F53"/>
                </a:solidFill>
                <a:latin typeface="Montserrat"/>
              </a:rPr>
              <a:t>Аналитик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3547872"/>
            <a:ext cx="1728216" cy="5212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20" b="0">
                <a:solidFill>
                  <a:srgbClr val="64616C"/>
                </a:solidFill>
                <a:latin typeface="Montserrat"/>
              </a:rPr>
              <a:t>История + UI</a:t>
            </a:r>
          </a:p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20" b="0">
                <a:solidFill>
                  <a:srgbClr val="64616C"/>
                </a:solidFill>
                <a:latin typeface="Montserrat"/>
              </a:rPr>
              <a:t>три модуля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" y="4773168"/>
            <a:ext cx="340156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00" b="1">
                <a:solidFill>
                  <a:srgbClr val="310F53"/>
                </a:solidFill>
                <a:latin typeface="Montserrat"/>
              </a:rPr>
              <a:t>Версии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5212080"/>
            <a:ext cx="340156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30" b="0">
                <a:solidFill>
                  <a:srgbClr val="64616C"/>
                </a:solidFill>
                <a:latin typeface="Montserrat"/>
              </a:rPr>
              <a:t>Правила, чек-лист, модель и провайдер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4773168"/>
            <a:ext cx="340156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00" b="1">
                <a:solidFill>
                  <a:srgbClr val="310F53"/>
                </a:solidFill>
                <a:latin typeface="Montserrat"/>
              </a:rPr>
              <a:t>Воспроизводимость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1688" y="5212080"/>
            <a:ext cx="340156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30" b="0">
                <a:solidFill>
                  <a:srgbClr val="64616C"/>
                </a:solidFill>
                <a:latin typeface="Montserrat"/>
              </a:rPr>
              <a:t>Сохранённый прогон и причины решения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773168"/>
            <a:ext cx="340156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00" b="1">
                <a:solidFill>
                  <a:srgbClr val="310F53"/>
                </a:solidFill>
                <a:latin typeface="Montserrat"/>
              </a:rPr>
              <a:t>Граница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5212080"/>
            <a:ext cx="340156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30" b="0">
                <a:solidFill>
                  <a:srgbClr val="64616C"/>
                </a:solidFill>
                <a:latin typeface="Montserrat"/>
              </a:rPr>
              <a:t>Статус поиска не равен качеству результата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5724144"/>
            <a:ext cx="11128248" cy="512064"/>
          </a:xfrm>
          <a:prstGeom prst="roundRect">
            <a:avLst>
              <a:gd name="adj" fmla="val 12000"/>
            </a:avLst>
          </a:prstGeom>
          <a:solidFill>
            <a:srgbClr val="F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843016"/>
            <a:ext cx="10762488" cy="338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10F53"/>
                </a:solidFill>
                <a:latin typeface="Montserrat"/>
              </a:rPr>
              <a:t>Проверены ссылки на фрагменты, модель/провайдер и кэш; rules-0.1 и пороги сохранены.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59436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9184"/>
            <a:ext cx="10607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20978"/>
                </a:solidFill>
                <a:latin typeface="Montserrat"/>
              </a:rPr>
              <a:t>КАЧЕСТВО И ГОТОВНОСТЬ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13816"/>
            <a:ext cx="11018520" cy="9052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310F53"/>
                </a:solidFill>
                <a:latin typeface="Montserrat"/>
              </a:rPr>
              <a:t>Качество измеряется</a:t>
            </a:r>
          </a:p>
          <a:p>
            <a:pPr algn="l" marL="0" indent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310F53"/>
                </a:solidFill>
                <a:latin typeface="Montserrat"/>
              </a:rPr>
              <a:t>на независимых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92224"/>
            <a:ext cx="10954512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4616C"/>
                </a:solidFill>
                <a:latin typeface="Montserrat"/>
              </a:rPr>
              <a:t>Реализация правил и интерфейса не заменяет оценку полного поискового конвейера.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19088"/>
            <a:ext cx="11128248" cy="7315"/>
          </a:xfrm>
          <a:prstGeom prst="rect">
            <a:avLst/>
          </a:prstGeom>
          <a:solidFill>
            <a:srgbClr val="E5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6809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80" b="1">
                <a:solidFill>
                  <a:srgbClr val="64616C"/>
                </a:solidFill>
                <a:latin typeface="Montserrat"/>
              </a:rPr>
              <a:t>AGI SPACE  /  ТОНКИЕ СИГНАЛЫ  ·  КОНЦЕПТ 29.09.2026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10528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20978"/>
                </a:solidFill>
                <a:latin typeface="Montserrat"/>
              </a:rPr>
              <a:t>13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606040"/>
            <a:ext cx="5385816" cy="2560320"/>
          </a:xfrm>
          <a:prstGeom prst="roundRect">
            <a:avLst>
              <a:gd name="adj" fmla="val 12000"/>
            </a:avLst>
          </a:prstGeom>
          <a:solidFill>
            <a:srgbClr val="F4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99632" y="2606040"/>
            <a:ext cx="5458968" cy="2560320"/>
          </a:xfrm>
          <a:prstGeom prst="roundRect">
            <a:avLst>
              <a:gd name="adj" fmla="val 12000"/>
            </a:avLst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862072"/>
            <a:ext cx="4937760" cy="2651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00" b="1">
                <a:solidFill>
                  <a:srgbClr val="520978"/>
                </a:solidFill>
                <a:latin typeface="Montserrat"/>
              </a:rPr>
              <a:t>РЕАЛИЗОВАНО И ПРОВЕРЕНО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383280"/>
            <a:ext cx="4937760" cy="1417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600" b="0">
                <a:solidFill>
                  <a:srgbClr val="310F53"/>
                </a:solidFill>
                <a:latin typeface="Montserrat"/>
              </a:rPr>
              <a:t>Три модуля и объяснение карточки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600" b="0">
                <a:solidFill>
                  <a:srgbClr val="310F53"/>
                </a:solidFill>
                <a:latin typeface="Montserrat"/>
              </a:rPr>
              <a:t>Детерминированные правила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600" b="0">
                <a:solidFill>
                  <a:srgbClr val="310F53"/>
                </a:solidFill>
                <a:latin typeface="Montserrat"/>
              </a:rPr>
              <a:t>Проверки ссылок, версий и кэша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600" b="0">
                <a:solidFill>
                  <a:srgbClr val="310F53"/>
                </a:solidFill>
                <a:latin typeface="Montserrat"/>
              </a:rPr>
              <a:t>Воспроизводимый архив «Новая жизнь»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862072"/>
            <a:ext cx="5001768" cy="2651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00" b="1">
                <a:solidFill>
                  <a:srgbClr val="FFD6E4"/>
                </a:solidFill>
                <a:latin typeface="Montserrat"/>
              </a:rPr>
              <a:t>ЕЩЁ НЕ ПОДТВЕРЖДЕНО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3383280"/>
            <a:ext cx="5001768" cy="1417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600" b="0">
                <a:solidFill>
                  <a:srgbClr val="FFFFFF"/>
                </a:solidFill>
                <a:latin typeface="Montserrat"/>
              </a:rPr>
              <a:t>Accuracy ≥75% полного live-поиска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600" b="0">
                <a:solidFill>
                  <a:srgbClr val="FFFFFF"/>
                </a:solidFill>
                <a:latin typeface="Montserrat"/>
              </a:rPr>
              <a:t>Надёжный TOP-15 на новых запросах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600" b="0">
                <a:solidFill>
                  <a:srgbClr val="FFFFFF"/>
                </a:solidFill>
                <a:latin typeface="Montserrat"/>
              </a:rPr>
              <a:t>Полнота журнала доказательств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600" b="0">
                <a:solidFill>
                  <a:srgbClr val="FFFFFF"/>
                </a:solidFill>
                <a:latin typeface="Montserrat"/>
              </a:rPr>
              <a:t>Факт конкурсной сдачи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468112"/>
            <a:ext cx="10991088" cy="6126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520978"/>
                </a:solidFill>
                <a:latin typeface="Montserrat"/>
              </a:rPr>
              <a:t>100 примеров организаторов — seed/design set, а не нетронутый holdout.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520978"/>
                </a:solidFill>
                <a:latin typeface="Montserrat"/>
              </a:rPr>
              <a:t>Нужны независимая разметка, зафиксированная версия и end-to-end оценка.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59436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9184"/>
            <a:ext cx="10607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20978"/>
                </a:solidFill>
                <a:latin typeface="Montserrat"/>
              </a:rPr>
              <a:t>ИНТЕРФЕЙС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13816"/>
            <a:ext cx="11018520" cy="9052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310F53"/>
                </a:solidFill>
                <a:latin typeface="Montserrat"/>
              </a:rPr>
              <a:t>Фильтр → рейтинг → проверяемое основание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19088"/>
            <a:ext cx="11128248" cy="7315"/>
          </a:xfrm>
          <a:prstGeom prst="rect">
            <a:avLst/>
          </a:prstGeom>
          <a:solidFill>
            <a:srgbClr val="E5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6809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80" b="1">
                <a:solidFill>
                  <a:srgbClr val="64616C"/>
                </a:solidFill>
                <a:latin typeface="Montserrat"/>
              </a:rPr>
              <a:t>AGI SPACE  /  ТОНКИЕ СИГНАЛЫ  ·  КОНЦЕПТ 29.09.2026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510528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20978"/>
                </a:solidFill>
                <a:latin typeface="Montserrat"/>
              </a:rPr>
              <a:t>14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5491" y="1810512"/>
            <a:ext cx="6825081" cy="4279392"/>
          </a:xfrm>
          <a:prstGeom prst="rect">
            <a:avLst/>
          </a:prstGeom>
          <a:solidFill>
            <a:srgbClr val="E5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urrent-three-panel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33779" y="1828800"/>
            <a:ext cx="6788505" cy="424281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317736" y="1920240"/>
            <a:ext cx="41148" cy="393192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0" y="1920240"/>
            <a:ext cx="202996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500" b="1">
                <a:solidFill>
                  <a:srgbClr val="310F53"/>
                </a:solidFill>
                <a:latin typeface="Montserrat"/>
              </a:rPr>
              <a:t>Три модуля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2359152"/>
            <a:ext cx="2029968" cy="7589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50" b="0">
                <a:solidFill>
                  <a:srgbClr val="64616C"/>
                </a:solidFill>
                <a:latin typeface="Montserrat"/>
              </a:rPr>
              <a:t>Сигналы</a:t>
            </a:r>
          </a:p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50" b="0">
                <a:solidFill>
                  <a:srgbClr val="64616C"/>
                </a:solidFill>
                <a:latin typeface="Montserrat"/>
              </a:rPr>
              <a:t>Потенциал</a:t>
            </a:r>
          </a:p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50" b="0">
                <a:solidFill>
                  <a:srgbClr val="64616C"/>
                </a:solidFill>
                <a:latin typeface="Montserrat"/>
              </a:rPr>
              <a:t>Новая жизнь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17736" y="3410712"/>
            <a:ext cx="41148" cy="393192"/>
          </a:xfrm>
          <a:prstGeom prst="rect">
            <a:avLst/>
          </a:prstGeom>
          <a:solidFill>
            <a:srgbClr val="520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3410712"/>
            <a:ext cx="202996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500" b="1">
                <a:solidFill>
                  <a:srgbClr val="310F53"/>
                </a:solidFill>
                <a:latin typeface="Montserrat"/>
              </a:rPr>
              <a:t>Основания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3849624"/>
            <a:ext cx="2029968" cy="7589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50" b="0">
                <a:solidFill>
                  <a:srgbClr val="64616C"/>
                </a:solidFill>
                <a:latin typeface="Montserrat"/>
              </a:rPr>
              <a:t>Факты и гипотезы</a:t>
            </a:r>
          </a:p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50" b="0">
                <a:solidFill>
                  <a:srgbClr val="64616C"/>
                </a:solidFill>
                <a:latin typeface="Montserrat"/>
              </a:rPr>
              <a:t>Проверки и ссылки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17736" y="4718304"/>
            <a:ext cx="41148" cy="393192"/>
          </a:xfrm>
          <a:prstGeom prst="rect">
            <a:avLst/>
          </a:prstGeom>
          <a:solidFill>
            <a:srgbClr val="8A8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4718304"/>
            <a:ext cx="202996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500" b="1">
                <a:solidFill>
                  <a:srgbClr val="310F53"/>
                </a:solidFill>
                <a:latin typeface="Montserrat"/>
              </a:rPr>
              <a:t>Контекст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5157216"/>
            <a:ext cx="2029968" cy="7589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50" b="0">
                <a:solidFill>
                  <a:srgbClr val="64616C"/>
                </a:solidFill>
                <a:latin typeface="Montserrat"/>
              </a:rPr>
              <a:t>Статус прогона</a:t>
            </a:r>
          </a:p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50" b="0">
                <a:solidFill>
                  <a:srgbClr val="64616C"/>
                </a:solidFill>
                <a:latin typeface="Montserrat"/>
              </a:rPr>
              <a:t>и версия данных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" y="6190488"/>
            <a:ext cx="109728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0">
                <a:solidFill>
                  <a:srgbClr val="64616C"/>
                </a:solidFill>
                <a:latin typeface="Montserrat"/>
              </a:rPr>
              <a:t>Текущая версия · комплект 29.09.2026 · снимок без обрезки и изменения пропорций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310F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59436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9184"/>
            <a:ext cx="10607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FD6E4"/>
                </a:solidFill>
                <a:latin typeface="Montserrat"/>
              </a:rPr>
              <a:t>СЛЕДУЮЩИЙ ШАГ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13816"/>
            <a:ext cx="11018520" cy="9052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FFFFFF"/>
                </a:solidFill>
                <a:latin typeface="Montserrat"/>
              </a:rPr>
              <a:t>Раньше заметить.</a:t>
            </a:r>
          </a:p>
          <a:p>
            <a:pPr algn="l" marL="0" indent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FFFFFF"/>
                </a:solidFill>
                <a:latin typeface="Montserrat"/>
              </a:rPr>
              <a:t>Точнее выбрать, что проверять.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92224"/>
            <a:ext cx="10954512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E9DFF1"/>
                </a:solidFill>
                <a:latin typeface="Montserrat"/>
              </a:rPr>
              <a:t>Пилот с аналитиками должен измерить полезность карточек, а не только количество находок.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19088"/>
            <a:ext cx="11128248" cy="7315"/>
          </a:xfrm>
          <a:prstGeom prst="rect">
            <a:avLst/>
          </a:prstGeom>
          <a:solidFill>
            <a:srgbClr val="8A8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6809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80" b="1">
                <a:solidFill>
                  <a:srgbClr val="E9DFF1"/>
                </a:solidFill>
                <a:latin typeface="Montserrat"/>
              </a:rPr>
              <a:t>AGI SPACE  /  ТОНКИЕ СИГНАЛЫ  ·  КОНЦЕПТ 29.09.2026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10528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FD6E4"/>
                </a:solidFill>
                <a:latin typeface="Montserrat"/>
              </a:rPr>
              <a:t>15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642616"/>
            <a:ext cx="3538728" cy="2386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852928"/>
            <a:ext cx="313639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800" b="1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3502152"/>
            <a:ext cx="313639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600" b="1">
                <a:solidFill>
                  <a:srgbClr val="310F53"/>
                </a:solidFill>
                <a:latin typeface="Montserrat"/>
              </a:rPr>
              <a:t>Независимая оценка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4105656"/>
            <a:ext cx="3136392" cy="667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320" b="0">
                <a:solidFill>
                  <a:srgbClr val="64616C"/>
                </a:solidFill>
                <a:latin typeface="Montserrat"/>
              </a:rPr>
              <a:t>Новые запросы, внешняя разметка, качество полного конвейера.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2642616"/>
            <a:ext cx="3538728" cy="2386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852928"/>
            <a:ext cx="313639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800" b="1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502152"/>
            <a:ext cx="313639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600" b="1">
                <a:solidFill>
                  <a:srgbClr val="310F53"/>
                </a:solidFill>
                <a:latin typeface="Montserrat"/>
              </a:rPr>
              <a:t>Надёжность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105656"/>
            <a:ext cx="3136392" cy="667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320" b="0">
                <a:solidFill>
                  <a:srgbClr val="64616C"/>
                </a:solidFill>
                <a:latin typeface="Montserrat"/>
              </a:rPr>
              <a:t>Долговечный журнал, статусы отказа источников и монотонность оценки.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2642616"/>
            <a:ext cx="3538728" cy="2386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852928"/>
            <a:ext cx="313639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800" b="1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502152"/>
            <a:ext cx="313639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600" b="1">
                <a:solidFill>
                  <a:srgbClr val="310F53"/>
                </a:solidFill>
                <a:latin typeface="Montserrat"/>
              </a:rPr>
              <a:t>Пилотный сценарий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105656"/>
            <a:ext cx="3136392" cy="667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3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320" b="0">
                <a:solidFill>
                  <a:srgbClr val="64616C"/>
                </a:solidFill>
                <a:latin typeface="Montserrat"/>
              </a:rPr>
              <a:t>Сократить свежий поиск и измерить время работы аналитика на реальных задачах.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" y="5413248"/>
            <a:ext cx="1083564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Montserrat"/>
              </a:rPr>
              <a:t>Рабочий контур: tsignal.aispaces.ru · три модуля доступны.</a:t>
            </a:r>
          </a:p>
          <a:p>
            <a:pPr algn="l" marL="0" inden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Montserrat"/>
              </a:rPr>
              <a:t>Следующий результат — измеримая польза для аналитика.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633</Words>
  <Application>Microsoft Macintosh PowerPoint</Application>
  <PresentationFormat>Широкоэкранный</PresentationFormat>
  <Paragraphs>192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Тонкие сигналы — ЛЦТ 2026</dc:title>
  <dc:creator>AGI Space</dc:creator>
  <cp:lastModifiedBy>AGI Space</cp:lastModifiedBy>
  <cp:revision>95</cp:revision>
  <dcterms:created xsi:type="dcterms:W3CDTF">2026-09-29T12:00:00Z</dcterms:created>
  <dcterms:modified xsi:type="dcterms:W3CDTF">2026-09-29T12:00:00Z</dcterms:modified>
  <dc:subject>Три модуля технологической разведки по проверяемым источникам</dc:subject>
  <cp:keywords>ЛЦТ 2026, Газпромбанк.Тех, AGI Space, дата комплекта 29.09.2026</cp:keywords>
  <dc:description>Дата комплекта 29.09.2026 разрешена организаторами со слов оператора. Не подтверждает конкурсную сдачу.</dc:description>
</cp:coreProperties>
</file>